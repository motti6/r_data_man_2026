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8DEE7"/>
    <a:srgbClr val="A6B9C7"/>
    <a:srgbClr val="E9A23B"/>
    <a:srgbClr val="FFFFFF"/>
    <a:srgbClr val="102A43"/>
    <a:srgbClr val="3C668A"/>
    <a:srgbClr val="CC5A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2" dt="2026-08-26T05:41:02.819"/>
    <p1510:client id="{2F688192-63DE-454D-B625-B6AE918AFF2C}" v="128" dt="2026-08-26T07:23:29.1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72" y="9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278719-D5A2-450F-AB7A-62958FA529F4}" type="datetimeFigureOut">
              <a:t>2026/8/26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D8812-837A-4902-858A-F024B37497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28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冒頭の問いかけ：「AIがコードを書いてくれるのに、なぜ今日Rを学ぶのでしょうか？」。タイトルを読み上げた後、数秒考えてもらう。結論は、手書きの速度ではなく、AIの出力を読んで検証し、目的に合わせて直す力を身につけるこ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利用率の高さと信頼度は同じではない。数字を一つずつ見せ、「AI時代ほど検証力が要る」という次のスライドにつなげる。84%は利用中または利用予定、46%は不信、52%は協働型利用の比率。
[Sources]
- https://survey.stackoverflow.co/2025/ai
- https://www.anthropic.com/research/anthropic-economic-index-january-2026-report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AIで最も直接的に下がるのは、定型コードの入力や雛形作成のコスト。中央の「コード生成」を強調し、コスト低下をカード内に統合した。問題設定・検証・意思決定は自動化しても責任が残る。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→02→03を連続した仕事の流れとして説明する。定義だけ、検証だけでは価値にならず、最終的に業務へ接続する必要がある。WEFとGitHubの数値は同じ色系統の証拠帯にまとめ、AI普及と技術リテラシーの同時進行を示す。GitHubの数値は雇用者数ではなく、GitHub上の開発者コミュニティの拡大。
[Sources]
- https://www.weforum.org/publications/the-future-of-jobs-report-2025/digest/
- https://github.blog/news-insights/octoverse/octoverse-a-new-developer-joins-github-every-second-as-ai-leads-typescript-to-1/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哲学的な話は「形式化」「正しさの根拠」「責任」の3点に絞る。各カードの図は、曖昧な言葉を構造にする、根拠を追う、最終判断を引き受ける、という違いを視覚化している。
[Sources]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小さな例だが、R演習への接続が強い。AIは文法上もっともらしいコードを返す。しかし、NAを単に除外すべきかは、欠損理由・調査設計・業務定義の問題。「直し方」より「除外してよいか」を強調する。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AI使用OKを最上位に置き、その下に「説明」「検算」「再現性」の3条件を置く。禁止ではなく、利用を前提に評価軸を変えることがポイント。課題の採点基準にも転用できる。
[Sources]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「読める・疑える・直せる」を連続した能力として示す。番号の背景色は、明るいティールから深いブルーへ連続的に変化させた。ここで一度まとめ、その後の追加スライドでR学習へ具体的に接続する。
[Sources]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Rを学ぶ理由を、データ操作・統計・可視化・再現可能性の4点で整理する。単なる文法学習ではなく、AIが生成したコードを分析の流れに組み込むための共通言語として位置づける。
[Sources]
- https://www.r-project.org/about.html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実務で使えるAI＋Rの標準ワークフロー。AIは生成工程を高速化するが、目的定義・読解・テスト・検算・記録は人が担う。授業中もこの順序を繰り返す。
[Sources]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この後の演習への移行スライド。第2回ではe-Stat APIを使い、取得→整形→結合→可視化→説明までを一連の作業として経験する。AIは入力補助に使い、判断と説明は学生自身が行う。
[Sources]
- https://fontawesome.com/license/free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8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12.svg"/><Relationship Id="rId9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3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svg"/><Relationship Id="rId5" Type="http://schemas.openxmlformats.org/officeDocument/2006/relationships/image" Target="../media/image28.png"/><Relationship Id="rId10" Type="http://schemas.openxmlformats.org/officeDocument/2006/relationships/image" Target="../media/image33.svg"/><Relationship Id="rId4" Type="http://schemas.openxmlformats.org/officeDocument/2006/relationships/image" Target="../media/image27.svg"/><Relationship Id="rId9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svg"/><Relationship Id="rId5" Type="http://schemas.openxmlformats.org/officeDocument/2006/relationships/image" Target="../media/image36.png"/><Relationship Id="rId4" Type="http://schemas.openxmlformats.org/officeDocument/2006/relationships/image" Target="../media/image3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svg"/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svg"/><Relationship Id="rId5" Type="http://schemas.openxmlformats.org/officeDocument/2006/relationships/image" Target="../media/image42.png"/><Relationship Id="rId10" Type="http://schemas.openxmlformats.org/officeDocument/2006/relationships/image" Target="../media/image33.svg"/><Relationship Id="rId4" Type="http://schemas.openxmlformats.org/officeDocument/2006/relationships/image" Target="../media/image41.svg"/><Relationship Id="rId9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svg"/><Relationship Id="rId13" Type="http://schemas.openxmlformats.org/officeDocument/2006/relationships/image" Target="../media/image52.png"/><Relationship Id="rId3" Type="http://schemas.openxmlformats.org/officeDocument/2006/relationships/image" Target="../media/image46.png"/><Relationship Id="rId7" Type="http://schemas.openxmlformats.org/officeDocument/2006/relationships/image" Target="../media/image49.png"/><Relationship Id="rId12" Type="http://schemas.openxmlformats.org/officeDocument/2006/relationships/image" Target="../media/image31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svg"/><Relationship Id="rId11" Type="http://schemas.openxmlformats.org/officeDocument/2006/relationships/image" Target="../media/image30.png"/><Relationship Id="rId5" Type="http://schemas.openxmlformats.org/officeDocument/2006/relationships/image" Target="../media/image7.png"/><Relationship Id="rId10" Type="http://schemas.openxmlformats.org/officeDocument/2006/relationships/image" Target="../media/image51.svg"/><Relationship Id="rId4" Type="http://schemas.openxmlformats.org/officeDocument/2006/relationships/image" Target="../media/image47.svg"/><Relationship Id="rId9" Type="http://schemas.openxmlformats.org/officeDocument/2006/relationships/image" Target="../media/image42.png"/><Relationship Id="rId14" Type="http://schemas.openxmlformats.org/officeDocument/2006/relationships/image" Target="../media/image53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svg"/><Relationship Id="rId13" Type="http://schemas.openxmlformats.org/officeDocument/2006/relationships/image" Target="../media/image28.png"/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12" Type="http://schemas.openxmlformats.org/officeDocument/2006/relationships/image" Target="../media/image6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svg"/><Relationship Id="rId11" Type="http://schemas.openxmlformats.org/officeDocument/2006/relationships/image" Target="../media/image62.png"/><Relationship Id="rId5" Type="http://schemas.openxmlformats.org/officeDocument/2006/relationships/image" Target="../media/image56.png"/><Relationship Id="rId10" Type="http://schemas.openxmlformats.org/officeDocument/2006/relationships/image" Target="../media/image61.svg"/><Relationship Id="rId4" Type="http://schemas.openxmlformats.org/officeDocument/2006/relationships/image" Target="../media/image55.svg"/><Relationship Id="rId9" Type="http://schemas.openxmlformats.org/officeDocument/2006/relationships/image" Target="../media/image60.png"/><Relationship Id="rId14" Type="http://schemas.openxmlformats.org/officeDocument/2006/relationships/image" Target="../media/image2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3891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INTRODUCTION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1170432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AIがコードを書く時代に、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85800" y="1737360"/>
            <a:ext cx="5669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なぜRを学ぶのか？</a:t>
            </a:r>
            <a:endParaRPr lang="en-US" sz="3900" dirty="0"/>
          </a:p>
        </p:txBody>
      </p:sp>
      <p:sp>
        <p:nvSpPr>
          <p:cNvPr id="6" name="Shape 4"/>
          <p:cNvSpPr/>
          <p:nvPr/>
        </p:nvSpPr>
        <p:spPr>
          <a:xfrm>
            <a:off x="713232" y="2496312"/>
            <a:ext cx="3977640" cy="100584"/>
          </a:xfrm>
          <a:prstGeom prst="rect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2852928"/>
            <a:ext cx="417808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rgbClr val="D7E6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手で速く書くためではない。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D7E6E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AIの答えを「読める・疑える・直せる」ようになるため。</a:t>
            </a: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6601968" y="1143000"/>
            <a:ext cx="786384" cy="786384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98564" y="1339596"/>
            <a:ext cx="393192" cy="393192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7443216" y="1536192"/>
            <a:ext cx="457200" cy="0"/>
          </a:xfrm>
          <a:prstGeom prst="line">
            <a:avLst/>
          </a:prstGeom>
          <a:noFill/>
          <a:ln w="29210">
            <a:solidFill>
              <a:srgbClr val="7EA5BD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8028432" y="960120"/>
            <a:ext cx="1115568" cy="11155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7324" y="1239012"/>
            <a:ext cx="557784" cy="557784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9217152" y="1536192"/>
            <a:ext cx="493776" cy="0"/>
          </a:xfrm>
          <a:prstGeom prst="line">
            <a:avLst/>
          </a:prstGeom>
          <a:noFill/>
          <a:ln w="29210">
            <a:solidFill>
              <a:srgbClr val="7EA5BD"/>
            </a:solidFill>
            <a:prstDash val="solid"/>
            <a:tailEnd type="triangle"/>
          </a:ln>
        </p:spPr>
      </p:sp>
      <p:sp>
        <p:nvSpPr>
          <p:cNvPr id="14" name="Shape 10"/>
          <p:cNvSpPr/>
          <p:nvPr/>
        </p:nvSpPr>
        <p:spPr>
          <a:xfrm>
            <a:off x="9857232" y="1143000"/>
            <a:ext cx="786384" cy="78638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10012680" y="1316736"/>
            <a:ext cx="4754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1900" dirty="0"/>
          </a:p>
        </p:txBody>
      </p:sp>
      <p:sp>
        <p:nvSpPr>
          <p:cNvPr id="20" name="Shape 15"/>
          <p:cNvSpPr/>
          <p:nvPr/>
        </p:nvSpPr>
        <p:spPr>
          <a:xfrm>
            <a:off x="6601968" y="3991356"/>
            <a:ext cx="4663440" cy="1339596"/>
          </a:xfrm>
          <a:prstGeom prst="roundRect">
            <a:avLst>
              <a:gd name="adj" fmla="val 11200"/>
            </a:avLst>
          </a:prstGeom>
          <a:solidFill>
            <a:srgbClr val="163650"/>
          </a:solidFill>
          <a:ln w="15240">
            <a:solidFill>
              <a:srgbClr val="2C526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903720" y="42199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今日の問い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903720" y="4439412"/>
            <a:ext cx="39867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AIが「答え」を出すなら、</a:t>
            </a:r>
            <a:endParaRPr lang="en-US" sz="1700" dirty="0"/>
          </a:p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人は何を学ぶべきか？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713232" y="608076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この授業の前提を5分で共有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25" name="Text 2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BUSINESS REALITY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AIはすでに「特別な道具」ではなく、標準装備になりつつある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利用が広がる一方、信頼や使い方には大きな課題が残る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664208"/>
            <a:ext cx="3547872" cy="109728"/>
          </a:xfrm>
          <a:prstGeom prst="rect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95528" y="1938528"/>
            <a:ext cx="475488" cy="47548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205740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71016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84%</a:t>
            </a:r>
            <a:endParaRPr lang="en-US" sz="3800" dirty="0"/>
          </a:p>
        </p:txBody>
      </p:sp>
      <p:sp>
        <p:nvSpPr>
          <p:cNvPr id="11" name="Text 8"/>
          <p:cNvSpPr/>
          <p:nvPr/>
        </p:nvSpPr>
        <p:spPr>
          <a:xfrm>
            <a:off x="850392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AIツールを利用中／利用予定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850392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開発者調査（2025）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923544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923544" y="3803904"/>
            <a:ext cx="2427183" cy="237744"/>
          </a:xfrm>
          <a:prstGeom prst="roundRect">
            <a:avLst>
              <a:gd name="adj" fmla="val 50000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905256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3337560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1892808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普及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4315968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315968" y="1664208"/>
            <a:ext cx="3547872" cy="109728"/>
          </a:xfrm>
          <a:prstGeom prst="rect">
            <a:avLst/>
          </a:prstGeom>
          <a:solidFill>
            <a:srgbClr val="CC5A5A"/>
          </a:solidFill>
          <a:ln w="12700">
            <a:solidFill>
              <a:srgbClr val="CC5A5A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517136" y="1938528"/>
            <a:ext cx="475488" cy="475488"/>
          </a:xfrm>
          <a:prstGeom prst="ellipse">
            <a:avLst/>
          </a:prstGeom>
          <a:solidFill>
            <a:srgbClr val="CC5A5A"/>
          </a:solidFill>
          <a:ln w="12700">
            <a:solidFill>
              <a:srgbClr val="CC5A5A">
                <a:alpha val="0"/>
              </a:srgbClr>
            </a:solidFill>
            <a:prstDash val="solid"/>
          </a:ln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6008" y="2057400"/>
            <a:ext cx="237744" cy="237744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992624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46%</a:t>
            </a:r>
            <a:endParaRPr lang="en-US" sz="3800" dirty="0"/>
          </a:p>
        </p:txBody>
      </p:sp>
      <p:sp>
        <p:nvSpPr>
          <p:cNvPr id="23" name="Text 19"/>
          <p:cNvSpPr/>
          <p:nvPr/>
        </p:nvSpPr>
        <p:spPr>
          <a:xfrm>
            <a:off x="4572000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AI出力を「不信」とする回答</a:t>
            </a:r>
            <a:endParaRPr lang="en-US" sz="1420" dirty="0"/>
          </a:p>
        </p:txBody>
      </p:sp>
      <p:sp>
        <p:nvSpPr>
          <p:cNvPr id="24" name="Text 20"/>
          <p:cNvSpPr/>
          <p:nvPr/>
        </p:nvSpPr>
        <p:spPr>
          <a:xfrm>
            <a:off x="4572000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信頼 33% を上回る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4645152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4645152" y="3803904"/>
            <a:ext cx="1329172" cy="237744"/>
          </a:xfrm>
          <a:prstGeom prst="roundRect">
            <a:avLst>
              <a:gd name="adj" fmla="val 50000"/>
            </a:avLst>
          </a:prstGeom>
          <a:solidFill>
            <a:srgbClr val="CC5A5A"/>
          </a:solidFill>
          <a:ln w="15240">
            <a:solidFill>
              <a:srgbClr val="CC5A5A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26864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28" name="Text 24"/>
          <p:cNvSpPr/>
          <p:nvPr/>
        </p:nvSpPr>
        <p:spPr>
          <a:xfrm>
            <a:off x="7059168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29" name="Text 25"/>
          <p:cNvSpPr/>
          <p:nvPr/>
        </p:nvSpPr>
        <p:spPr>
          <a:xfrm>
            <a:off x="5614416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不信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8037576" y="1664208"/>
            <a:ext cx="3547872" cy="3401568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8037576" y="1664208"/>
            <a:ext cx="3547872" cy="10972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>
                <a:alpha val="0"/>
              </a:srgbClr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238744" y="1938528"/>
            <a:ext cx="475488" cy="475488"/>
          </a:xfrm>
          <a:prstGeom prst="ellipse">
            <a:avLst/>
          </a:prstGeom>
          <a:solidFill>
            <a:srgbClr val="457B9D"/>
          </a:solidFill>
          <a:ln w="12700">
            <a:solidFill>
              <a:srgbClr val="457B9D">
                <a:alpha val="0"/>
              </a:srgbClr>
            </a:solidFill>
            <a:prstDash val="solid"/>
          </a:ln>
        </p:spPr>
      </p:sp>
      <p:pic>
        <p:nvPicPr>
          <p:cNvPr id="33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57616" y="2057400"/>
            <a:ext cx="237744" cy="23774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8714232" y="1975104"/>
            <a:ext cx="24871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457B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52%</a:t>
            </a:r>
            <a:endParaRPr lang="en-US" sz="3800" dirty="0"/>
          </a:p>
        </p:txBody>
      </p:sp>
      <p:sp>
        <p:nvSpPr>
          <p:cNvPr id="35" name="Text 30"/>
          <p:cNvSpPr/>
          <p:nvPr/>
        </p:nvSpPr>
        <p:spPr>
          <a:xfrm>
            <a:off x="8293608" y="2724912"/>
            <a:ext cx="30358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Claude.aiで協働型利用が優勢</a:t>
            </a:r>
            <a:endParaRPr lang="en-US" sz="1420" dirty="0"/>
          </a:p>
        </p:txBody>
      </p:sp>
      <p:sp>
        <p:nvSpPr>
          <p:cNvPr id="36" name="Text 31"/>
          <p:cNvSpPr/>
          <p:nvPr/>
        </p:nvSpPr>
        <p:spPr>
          <a:xfrm>
            <a:off x="8293608" y="3273552"/>
            <a:ext cx="3035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augmentation の比率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8366760" y="3803904"/>
            <a:ext cx="2889504" cy="237744"/>
          </a:xfrm>
          <a:prstGeom prst="roundRect">
            <a:avLst>
              <a:gd name="adj" fmla="val 50000"/>
            </a:avLst>
          </a:prstGeom>
          <a:solidFill>
            <a:srgbClr val="E9EEF3"/>
          </a:solidFill>
          <a:ln w="15240">
            <a:solidFill>
              <a:srgbClr val="E9EEF3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8366760" y="3803904"/>
            <a:ext cx="1502542" cy="237744"/>
          </a:xfrm>
          <a:prstGeom prst="roundRect">
            <a:avLst>
              <a:gd name="adj" fmla="val 50000"/>
            </a:avLst>
          </a:prstGeom>
          <a:solidFill>
            <a:srgbClr val="457B9D"/>
          </a:solidFill>
          <a:ln w="15240">
            <a:solidFill>
              <a:srgbClr val="457B9D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348472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</a:t>
            </a:r>
            <a:endParaRPr lang="en-US" sz="800" dirty="0"/>
          </a:p>
        </p:txBody>
      </p:sp>
      <p:sp>
        <p:nvSpPr>
          <p:cNvPr id="40" name="Text 35"/>
          <p:cNvSpPr/>
          <p:nvPr/>
        </p:nvSpPr>
        <p:spPr>
          <a:xfrm>
            <a:off x="10780776" y="4087368"/>
            <a:ext cx="438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100</a:t>
            </a:r>
            <a:endParaRPr lang="en-US" sz="800" dirty="0"/>
          </a:p>
        </p:txBody>
      </p:sp>
      <p:sp>
        <p:nvSpPr>
          <p:cNvPr id="41" name="Text 36"/>
          <p:cNvSpPr/>
          <p:nvPr/>
        </p:nvSpPr>
        <p:spPr>
          <a:xfrm>
            <a:off x="9336024" y="4370832"/>
            <a:ext cx="960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57B9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協働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1115568" y="5376672"/>
            <a:ext cx="9966960" cy="713232"/>
          </a:xfrm>
          <a:prstGeom prst="roundRect">
            <a:avLst>
              <a:gd name="adj" fmla="val 16667"/>
            </a:avLst>
          </a:prstGeom>
          <a:solidFill>
            <a:srgbClr val="E8F1FA"/>
          </a:solidFill>
          <a:ln w="15240">
            <a:solidFill>
              <a:srgbClr val="C9DCEE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444752" y="5582412"/>
            <a:ext cx="9308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AIを「使える」ことと、AIに「任せきれる」ことは別の能力</a:t>
            </a:r>
            <a:endParaRPr lang="en-US" sz="1700" dirty="0"/>
          </a:p>
        </p:txBody>
      </p:sp>
      <p:sp>
        <p:nvSpPr>
          <p:cNvPr id="44" name="Text 39"/>
          <p:cNvSpPr/>
          <p:nvPr/>
        </p:nvSpPr>
        <p:spPr>
          <a:xfrm>
            <a:off x="1051560" y="6190488"/>
            <a:ext cx="10058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出所：Stack Overflow Developer Survey 2025、Anthropic Economic Index (Jan. 2026)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6" name="Text 41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THE PARADOX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AIで安くなったのは「コードを打つコスト」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価値がなくなったのではなく、価値の置き場所が変わった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432304" y="2395728"/>
            <a:ext cx="201168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590288" y="2395728"/>
            <a:ext cx="146304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287768" y="2395728"/>
            <a:ext cx="192024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454896" y="2395728"/>
            <a:ext cx="201168" cy="0"/>
          </a:xfrm>
          <a:prstGeom prst="line">
            <a:avLst/>
          </a:prstGeom>
          <a:noFill/>
          <a:ln w="2540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502920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12648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6656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人の判断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649224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問題を定義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9224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何を知りたい？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660904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70632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34640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人の判断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807208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指示を設計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807208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条件・単位・粒度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498080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607808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71816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人＋AI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7644384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結果を検証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644384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正しい？ 妥当？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9674352" y="1828800"/>
            <a:ext cx="1901952" cy="1143000"/>
          </a:xfrm>
          <a:prstGeom prst="roundRect">
            <a:avLst>
              <a:gd name="adj" fmla="val 12800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784080" y="1938528"/>
            <a:ext cx="822960" cy="237744"/>
          </a:xfrm>
          <a:prstGeom prst="roundRect">
            <a:avLst>
              <a:gd name="adj" fmla="val 30769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848088" y="1965960"/>
            <a:ext cx="694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人の責任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9820656" y="2258568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0656" y="2624328"/>
            <a:ext cx="1609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何をする？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36592" y="1572768"/>
            <a:ext cx="2560320" cy="1691640"/>
          </a:xfrm>
          <a:prstGeom prst="roundRect">
            <a:avLst>
              <a:gd name="adj" fmla="val 8649"/>
            </a:avLst>
          </a:prstGeom>
          <a:solidFill>
            <a:srgbClr val="DFF4F1"/>
          </a:solidFill>
          <a:ln w="15240">
            <a:solidFill>
              <a:srgbClr val="1FA69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038344" y="170078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202936" y="1746504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AIで高速化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983480" y="2148840"/>
            <a:ext cx="493776" cy="493776"/>
          </a:xfrm>
          <a:prstGeom prst="ellipse">
            <a:avLst/>
          </a:prstGeom>
          <a:solidFill>
            <a:srgbClr val="FFFFFF"/>
          </a:solidFill>
          <a:ln w="15240">
            <a:solidFill>
              <a:srgbClr val="1FA69A"/>
            </a:solidFill>
            <a:prstDash val="solid"/>
          </a:ln>
        </p:spPr>
      </p:sp>
      <p:pic>
        <p:nvPicPr>
          <p:cNvPr id="3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06924" y="2272284"/>
            <a:ext cx="246888" cy="246888"/>
          </a:xfrm>
          <a:prstGeom prst="rect">
            <a:avLst/>
          </a:prstGeom>
        </p:spPr>
      </p:pic>
      <p:sp>
        <p:nvSpPr>
          <p:cNvPr id="35" name="Text 32"/>
          <p:cNvSpPr/>
          <p:nvPr/>
        </p:nvSpPr>
        <p:spPr>
          <a:xfrm>
            <a:off x="5559552" y="209397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コード生成</a:t>
            </a:r>
            <a:endParaRPr lang="en-US" sz="1800" dirty="0"/>
          </a:p>
        </p:txBody>
      </p:sp>
      <p:sp>
        <p:nvSpPr>
          <p:cNvPr id="36" name="Text 33"/>
          <p:cNvSpPr/>
          <p:nvPr/>
        </p:nvSpPr>
        <p:spPr>
          <a:xfrm>
            <a:off x="5559552" y="2441448"/>
            <a:ext cx="12618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2B7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AIで高速化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4956048" y="2761488"/>
            <a:ext cx="2121408" cy="365760"/>
          </a:xfrm>
          <a:prstGeom prst="roundRect">
            <a:avLst>
              <a:gd name="adj" fmla="val 27500"/>
            </a:avLst>
          </a:prstGeom>
          <a:solidFill>
            <a:srgbClr val="2AA876"/>
          </a:solidFill>
          <a:ln w="15240">
            <a:solidFill>
              <a:srgbClr val="2AA876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129784" y="2862072"/>
            <a:ext cx="164592" cy="164592"/>
          </a:xfrm>
          <a:prstGeom prst="rect">
            <a:avLst/>
          </a:prstGeom>
        </p:spPr>
      </p:pic>
      <p:sp>
        <p:nvSpPr>
          <p:cNvPr id="39" name="Text 35"/>
          <p:cNvSpPr/>
          <p:nvPr/>
        </p:nvSpPr>
        <p:spPr>
          <a:xfrm>
            <a:off x="5321808" y="2843784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入力・雛形作成コスト</a:t>
            </a:r>
            <a:endParaRPr lang="en-US" sz="930" dirty="0"/>
          </a:p>
        </p:txBody>
      </p:sp>
      <p:sp>
        <p:nvSpPr>
          <p:cNvPr id="40" name="Shape 36"/>
          <p:cNvSpPr/>
          <p:nvPr/>
        </p:nvSpPr>
        <p:spPr>
          <a:xfrm>
            <a:off x="987552" y="3913632"/>
            <a:ext cx="10222992" cy="6858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1243584" y="4143756"/>
            <a:ext cx="960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ja-JP" altLang="en-US" sz="1000" b="1" dirty="0">
                <a:solidFill>
                  <a:srgbClr val="2AA876"/>
                </a:solidFill>
                <a:latin typeface="Yu Gothic" pitchFamily="34" charset="0"/>
                <a:ea typeface="Yu Gothic" pitchFamily="34" charset="-122"/>
              </a:rPr>
              <a:t>いらなくなるもの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2432304" y="40965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定型コードの入力・雛形作成・文法検索</a:t>
            </a:r>
            <a:endParaRPr lang="en-US" sz="1250" b="1" dirty="0"/>
          </a:p>
        </p:txBody>
      </p:sp>
      <p:sp>
        <p:nvSpPr>
          <p:cNvPr id="43" name="Text 39"/>
          <p:cNvSpPr/>
          <p:nvPr/>
        </p:nvSpPr>
        <p:spPr>
          <a:xfrm>
            <a:off x="6641211" y="413690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残るもの</a:t>
            </a:r>
            <a:endParaRPr lang="en-US" sz="1000" dirty="0"/>
          </a:p>
        </p:txBody>
      </p:sp>
      <p:sp>
        <p:nvSpPr>
          <p:cNvPr id="44" name="Text 40"/>
          <p:cNvSpPr/>
          <p:nvPr/>
        </p:nvSpPr>
        <p:spPr>
          <a:xfrm>
            <a:off x="7516368" y="4105656"/>
            <a:ext cx="4096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F293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問題設定・妥当性確認・意思決定・説明責任</a:t>
            </a:r>
            <a:endParaRPr lang="en-US" sz="1250" b="1" dirty="0"/>
          </a:p>
        </p:txBody>
      </p:sp>
      <p:sp>
        <p:nvSpPr>
          <p:cNvPr id="45" name="Shape 41"/>
          <p:cNvSpPr/>
          <p:nvPr/>
        </p:nvSpPr>
        <p:spPr>
          <a:xfrm>
            <a:off x="1444752" y="4983480"/>
            <a:ext cx="9308592" cy="841248"/>
          </a:xfrm>
          <a:prstGeom prst="roundRect">
            <a:avLst>
              <a:gd name="adj" fmla="val 15217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46" name="Text 42"/>
          <p:cNvSpPr/>
          <p:nvPr/>
        </p:nvSpPr>
        <p:spPr>
          <a:xfrm>
            <a:off x="1764792" y="5230368"/>
            <a:ext cx="8668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AI時代のプログラミング力 ＝ 定義する力 × 読む力 × 検証する力</a:t>
            </a:r>
            <a:endParaRPr lang="en-US" sz="1800" dirty="0"/>
          </a:p>
        </p:txBody>
      </p:sp>
      <p:sp>
        <p:nvSpPr>
          <p:cNvPr id="47" name="Text 43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8" name="Text 44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800" dirty="0"/>
          </a:p>
        </p:txBody>
      </p:sp>
      <p:cxnSp>
        <p:nvCxnSpPr>
          <p:cNvPr id="51" name="直線コネクタ 50">
            <a:extLst>
              <a:ext uri="{FF2B5EF4-FFF2-40B4-BE49-F238E27FC236}">
                <a16:creationId xmlns:a16="http://schemas.microsoft.com/office/drawing/2014/main" id="{11BD3FC5-4DC6-D982-519E-E8CA2FC0986E}"/>
              </a:ext>
            </a:extLst>
          </p:cNvPr>
          <p:cNvCxnSpPr>
            <a:cxnSpLocks/>
          </p:cNvCxnSpPr>
          <p:nvPr/>
        </p:nvCxnSpPr>
        <p:spPr>
          <a:xfrm>
            <a:off x="6448806" y="4077464"/>
            <a:ext cx="4438269" cy="0"/>
          </a:xfrm>
          <a:prstGeom prst="line">
            <a:avLst/>
          </a:prstGeom>
          <a:ln w="19050">
            <a:solidFill>
              <a:srgbClr val="CC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コネクタ 55">
            <a:extLst>
              <a:ext uri="{FF2B5EF4-FFF2-40B4-BE49-F238E27FC236}">
                <a16:creationId xmlns:a16="http://schemas.microsoft.com/office/drawing/2014/main" id="{3880FB2E-6688-52EB-D6C2-55BCD98F359A}"/>
              </a:ext>
            </a:extLst>
          </p:cNvPr>
          <p:cNvCxnSpPr>
            <a:cxnSpLocks/>
          </p:cNvCxnSpPr>
          <p:nvPr/>
        </p:nvCxnSpPr>
        <p:spPr>
          <a:xfrm>
            <a:off x="6448806" y="4416552"/>
            <a:ext cx="4438269" cy="0"/>
          </a:xfrm>
          <a:prstGeom prst="line">
            <a:avLst/>
          </a:prstGeom>
          <a:ln w="19050">
            <a:solidFill>
              <a:srgbClr val="CC5A5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97339" y="36830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WHAT EMPLOYERS VALUE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ビジネスで問われるのは「コード量」ではなく、仕事を動かす力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AIとデータを、業務の判断につなげられる人が必要になる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340864" y="1993392"/>
            <a:ext cx="7479792" cy="0"/>
          </a:xfrm>
          <a:prstGeom prst="line">
            <a:avLst/>
          </a:prstGeom>
          <a:noFill/>
          <a:ln w="40640">
            <a:solidFill>
              <a:srgbClr val="AFC3D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50976" y="1691640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315A72"/>
          </a:solidFill>
          <a:ln w="15240">
            <a:solidFill>
              <a:srgbClr val="315A7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01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995787" y="2212848"/>
            <a:ext cx="676656" cy="676656"/>
          </a:xfrm>
          <a:prstGeom prst="ellipse">
            <a:avLst/>
          </a:prstGeom>
          <a:solidFill>
            <a:srgbClr val="315A72"/>
          </a:solidFill>
          <a:ln w="12700">
            <a:solidFill>
              <a:srgbClr val="315A72">
                <a:alpha val="0"/>
              </a:srgbClr>
            </a:solidFill>
            <a:prstDash val="solid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64951" y="2382012"/>
            <a:ext cx="338328" cy="33832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223119" y="29443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定義する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1204831" y="331012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曖昧な依頼を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変数・条件・手順に落とす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443984" y="1691640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133088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2F7E83"/>
          </a:solidFill>
          <a:ln w="15240">
            <a:solidFill>
              <a:srgbClr val="2F7E8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297680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02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488795" y="2212848"/>
            <a:ext cx="676656" cy="676656"/>
          </a:xfrm>
          <a:prstGeom prst="ellipse">
            <a:avLst/>
          </a:prstGeom>
          <a:solidFill>
            <a:srgbClr val="2F7E83"/>
          </a:solidFill>
          <a:ln w="12700">
            <a:solidFill>
              <a:srgbClr val="2F7E83">
                <a:alpha val="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7959" y="2382012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716127" y="29443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検証する</a:t>
            </a:r>
            <a:endParaRPr lang="en-US" sz="1650" dirty="0"/>
          </a:p>
        </p:txBody>
      </p:sp>
      <p:sp>
        <p:nvSpPr>
          <p:cNvPr id="22" name="Text 18"/>
          <p:cNvSpPr/>
          <p:nvPr/>
        </p:nvSpPr>
        <p:spPr>
          <a:xfrm>
            <a:off x="4697839" y="331012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AI出力とデータを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疑い、再計算できる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7936992" y="1691640"/>
            <a:ext cx="2880360" cy="2395728"/>
          </a:xfrm>
          <a:prstGeom prst="roundRect">
            <a:avLst>
              <a:gd name="adj" fmla="val 610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7626096" y="1591056"/>
            <a:ext cx="2880360" cy="512064"/>
          </a:xfrm>
          <a:prstGeom prst="roundRect">
            <a:avLst>
              <a:gd name="adj" fmla="val 26786"/>
            </a:avLst>
          </a:prstGeom>
          <a:solidFill>
            <a:srgbClr val="4C789A"/>
          </a:solidFill>
          <a:ln w="15240">
            <a:solidFill>
              <a:srgbClr val="4C78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790688" y="169164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03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981803" y="2212848"/>
            <a:ext cx="676656" cy="676656"/>
          </a:xfrm>
          <a:prstGeom prst="ellipse">
            <a:avLst/>
          </a:prstGeom>
          <a:solidFill>
            <a:srgbClr val="4C789A"/>
          </a:solidFill>
          <a:ln w="12700">
            <a:solidFill>
              <a:srgbClr val="4C789A">
                <a:alpha val="0"/>
              </a:srgbClr>
            </a:solidFill>
            <a:prstDash val="solid"/>
          </a:ln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50967" y="2382012"/>
            <a:ext cx="338328" cy="33832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209135" y="2944368"/>
            <a:ext cx="22219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接続する</a:t>
            </a:r>
            <a:endParaRPr lang="en-US" sz="1650" dirty="0"/>
          </a:p>
        </p:txBody>
      </p:sp>
      <p:sp>
        <p:nvSpPr>
          <p:cNvPr id="29" name="Text 24"/>
          <p:cNvSpPr/>
          <p:nvPr/>
        </p:nvSpPr>
        <p:spPr>
          <a:xfrm>
            <a:off x="8190847" y="3310128"/>
            <a:ext cx="22585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分析を業務・顧客・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意思決定につなげる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868680" y="4389120"/>
            <a:ext cx="10460736" cy="1389888"/>
          </a:xfrm>
          <a:prstGeom prst="roundRect">
            <a:avLst>
              <a:gd name="adj" fmla="val 9211"/>
            </a:avLst>
          </a:prstGeom>
          <a:solidFill>
            <a:srgbClr val="DCEAF3"/>
          </a:solidFill>
          <a:ln w="15240">
            <a:solidFill>
              <a:srgbClr val="C2D8E7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68680" y="4389120"/>
            <a:ext cx="5230368" cy="1389888"/>
          </a:xfrm>
          <a:prstGeom prst="rect">
            <a:avLst/>
          </a:prstGeom>
          <a:solidFill>
            <a:srgbClr val="355C7D"/>
          </a:solidFill>
          <a:ln w="12700">
            <a:solidFill>
              <a:srgbClr val="355C7D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6099048" y="4389120"/>
            <a:ext cx="5230368" cy="1389888"/>
          </a:xfrm>
          <a:prstGeom prst="rect">
            <a:avLst/>
          </a:prstGeom>
          <a:solidFill>
            <a:srgbClr val="4A8798"/>
          </a:solidFill>
          <a:ln w="12700">
            <a:solidFill>
              <a:srgbClr val="4A8798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143000" y="459028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WEF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1143000" y="4882896"/>
            <a:ext cx="42793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AI・ビッグデータ、技術リテラシーは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2030年に向けて伸びるスキル群</a:t>
            </a:r>
            <a:endParaRPr lang="en-US" sz="1150" dirty="0"/>
          </a:p>
        </p:txBody>
      </p:sp>
      <p:sp>
        <p:nvSpPr>
          <p:cNvPr id="35" name="Shape 30"/>
          <p:cNvSpPr/>
          <p:nvPr/>
        </p:nvSpPr>
        <p:spPr>
          <a:xfrm>
            <a:off x="5769864" y="4736592"/>
            <a:ext cx="658368" cy="658368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34456" y="4901184"/>
            <a:ext cx="329184" cy="329184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6675120" y="459028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GitHub</a:t>
            </a:r>
            <a:endParaRPr lang="en-US" sz="1400" dirty="0"/>
          </a:p>
        </p:txBody>
      </p:sp>
      <p:sp>
        <p:nvSpPr>
          <p:cNvPr id="38" name="Text 32"/>
          <p:cNvSpPr/>
          <p:nvPr/>
        </p:nvSpPr>
        <p:spPr>
          <a:xfrm>
            <a:off x="6675120" y="4882896"/>
            <a:ext cx="4160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2025年は新規開発者が3,600万人超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AI普及と同時に開発者コミュニティも拡大</a:t>
            </a:r>
            <a:endParaRPr lang="en-US" sz="1150" dirty="0"/>
          </a:p>
        </p:txBody>
      </p:sp>
      <p:sp>
        <p:nvSpPr>
          <p:cNvPr id="39" name="Text 33"/>
          <p:cNvSpPr/>
          <p:nvPr/>
        </p:nvSpPr>
        <p:spPr>
          <a:xfrm>
            <a:off x="1828800" y="5980176"/>
            <a:ext cx="8549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2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共通メッセージ：AI普及と同時に、技術リテラシーの価値も上がる</a:t>
            </a:r>
            <a:endParaRPr lang="en-US" sz="1120" dirty="0"/>
          </a:p>
        </p:txBody>
      </p:sp>
      <p:sp>
        <p:nvSpPr>
          <p:cNvPr id="40" name="Text 34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1" name="Text 35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799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PHILOSOPHICAL VIEW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プログラミングは「機械に命令する技術」以上のもの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本質は、曖昧さを削り、考えを検証可能な形にすること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E8F1FA"/>
          </a:solidFill>
          <a:ln w="15240">
            <a:solidFill>
              <a:srgbClr val="E8F1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00200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3C668A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80160" y="2194560"/>
            <a:ext cx="164592" cy="16459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16352" y="2194560"/>
            <a:ext cx="164592" cy="16459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444752" y="2276856"/>
            <a:ext cx="155448" cy="0"/>
          </a:xfrm>
          <a:prstGeom prst="line">
            <a:avLst/>
          </a:prstGeom>
          <a:noFill/>
          <a:ln w="15240">
            <a:solidFill>
              <a:srgbClr val="3C668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660904" y="2276856"/>
            <a:ext cx="155448" cy="0"/>
          </a:xfrm>
          <a:prstGeom prst="line">
            <a:avLst/>
          </a:prstGeom>
          <a:noFill/>
          <a:ln w="15240">
            <a:solidFill>
              <a:srgbClr val="3C668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60120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形式化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960120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「何を数える？」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969264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言葉を、変数・条件・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処理手順に置き換える。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1152144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280160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曖昧さを構造に変える</a:t>
            </a:r>
            <a:endParaRPr lang="en-US" sz="880" dirty="0"/>
          </a:p>
        </p:txBody>
      </p:sp>
      <p:sp>
        <p:nvSpPr>
          <p:cNvPr id="18" name="Shape 15"/>
          <p:cNvSpPr/>
          <p:nvPr/>
        </p:nvSpPr>
        <p:spPr>
          <a:xfrm>
            <a:off x="4160520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DFF4F1"/>
          </a:solidFill>
          <a:ln w="15240">
            <a:solidFill>
              <a:srgbClr val="DFF4F1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02352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1FA69A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85816" y="2157984"/>
            <a:ext cx="493776" cy="493776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4782312" y="2194560"/>
            <a:ext cx="164592" cy="16459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6318504" y="2194560"/>
            <a:ext cx="164592" cy="16459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946904" y="2276856"/>
            <a:ext cx="155448" cy="0"/>
          </a:xfrm>
          <a:prstGeom prst="line">
            <a:avLst/>
          </a:prstGeom>
          <a:noFill/>
          <a:ln w="15240">
            <a:solidFill>
              <a:srgbClr val="1FA69A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163056" y="2276856"/>
            <a:ext cx="155448" cy="0"/>
          </a:xfrm>
          <a:prstGeom prst="line">
            <a:avLst/>
          </a:prstGeom>
          <a:noFill/>
          <a:ln w="15240">
            <a:solidFill>
              <a:srgbClr val="1FA69A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4462272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認識論</a:t>
            </a:r>
            <a:endParaRPr lang="en-US" sz="1800" dirty="0"/>
          </a:p>
        </p:txBody>
      </p:sp>
      <p:sp>
        <p:nvSpPr>
          <p:cNvPr id="26" name="Text 22"/>
          <p:cNvSpPr/>
          <p:nvPr/>
        </p:nvSpPr>
        <p:spPr>
          <a:xfrm>
            <a:off x="4462272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「なぜ正しい？」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471416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データ、仮定、計算から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結論までの筋道を追う。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4654296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782312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根拠と限界を知る</a:t>
            </a:r>
            <a:endParaRPr lang="en-US" sz="880" dirty="0"/>
          </a:p>
        </p:txBody>
      </p:sp>
      <p:sp>
        <p:nvSpPr>
          <p:cNvPr id="30" name="Shape 26"/>
          <p:cNvSpPr/>
          <p:nvPr/>
        </p:nvSpPr>
        <p:spPr>
          <a:xfrm>
            <a:off x="7662672" y="1627632"/>
            <a:ext cx="2944368" cy="3337560"/>
          </a:xfrm>
          <a:prstGeom prst="roundRect">
            <a:avLst>
              <a:gd name="adj" fmla="val 4969"/>
            </a:avLst>
          </a:prstGeom>
          <a:solidFill>
            <a:srgbClr val="FFF1D6"/>
          </a:solidFill>
          <a:ln w="15240">
            <a:solidFill>
              <a:srgbClr val="FFF1D6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8604504" y="1874520"/>
            <a:ext cx="1060704" cy="1060704"/>
          </a:xfrm>
          <a:prstGeom prst="ellipse">
            <a:avLst/>
          </a:prstGeom>
          <a:solidFill>
            <a:srgbClr val="FFFFFF"/>
          </a:solidFill>
          <a:ln w="17780">
            <a:solidFill>
              <a:srgbClr val="E9A23B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87968" y="2157984"/>
            <a:ext cx="493776" cy="493776"/>
          </a:xfrm>
          <a:prstGeom prst="rect">
            <a:avLst/>
          </a:prstGeom>
        </p:spPr>
      </p:pic>
      <p:sp>
        <p:nvSpPr>
          <p:cNvPr id="33" name="Shape 28"/>
          <p:cNvSpPr/>
          <p:nvPr/>
        </p:nvSpPr>
        <p:spPr>
          <a:xfrm>
            <a:off x="8284464" y="219456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820656" y="2194560"/>
            <a:ext cx="164592" cy="16459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8449056" y="2276856"/>
            <a:ext cx="155448" cy="0"/>
          </a:xfrm>
          <a:prstGeom prst="line">
            <a:avLst/>
          </a:prstGeom>
          <a:noFill/>
          <a:ln w="15240">
            <a:solidFill>
              <a:srgbClr val="E9A23B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9665208" y="2276856"/>
            <a:ext cx="155448" cy="0"/>
          </a:xfrm>
          <a:prstGeom prst="line">
            <a:avLst/>
          </a:prstGeom>
          <a:noFill/>
          <a:ln w="15240">
            <a:solidFill>
              <a:srgbClr val="E9A23B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7964424" y="3072384"/>
            <a:ext cx="23408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責任</a:t>
            </a:r>
            <a:endParaRPr lang="en-US" sz="1800" dirty="0"/>
          </a:p>
        </p:txBody>
      </p:sp>
      <p:sp>
        <p:nvSpPr>
          <p:cNvPr id="38" name="Text 33"/>
          <p:cNvSpPr/>
          <p:nvPr/>
        </p:nvSpPr>
        <p:spPr>
          <a:xfrm>
            <a:off x="7964424" y="3474720"/>
            <a:ext cx="23408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「誰が引き受ける？」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7973568" y="3803904"/>
            <a:ext cx="232257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AIは提案できる。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最終判断の責任は人に残る。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8156448" y="4489704"/>
            <a:ext cx="1956816" cy="310896"/>
          </a:xfrm>
          <a:prstGeom prst="roundRect">
            <a:avLst>
              <a:gd name="adj" fmla="val 29412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8284464" y="4553712"/>
            <a:ext cx="17007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8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判断主体を明確にする</a:t>
            </a:r>
            <a:endParaRPr lang="en-US" sz="880" dirty="0"/>
          </a:p>
        </p:txBody>
      </p:sp>
      <p:sp>
        <p:nvSpPr>
          <p:cNvPr id="42" name="Shape 37"/>
          <p:cNvSpPr/>
          <p:nvPr/>
        </p:nvSpPr>
        <p:spPr>
          <a:xfrm>
            <a:off x="1298448" y="5303520"/>
            <a:ext cx="9601200" cy="704088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1664208" y="5513832"/>
            <a:ext cx="8869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理解とは、答えを持つことより「その答えが壊れる条件」を知ること。</a:t>
            </a:r>
            <a:endParaRPr lang="en-US" sz="1750" dirty="0"/>
          </a:p>
        </p:txBody>
      </p:sp>
      <p:sp>
        <p:nvSpPr>
          <p:cNvPr id="44" name="Text 3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5" name="Text 4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800" dirty="0"/>
          </a:p>
        </p:txBody>
      </p:sp>
      <p:pic>
        <p:nvPicPr>
          <p:cNvPr id="49" name="グラフィックス 48" descr="歯車 単色塗りつぶし">
            <a:extLst>
              <a:ext uri="{FF2B5EF4-FFF2-40B4-BE49-F238E27FC236}">
                <a16:creationId xmlns:a16="http://schemas.microsoft.com/office/drawing/2014/main" id="{49F953B7-59C9-9000-42C2-5760FF4B7FD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689100" y="1972056"/>
            <a:ext cx="914400" cy="914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SMALL R EXAMPLE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AIにコードを書かせても、「読む力」がないと正しさは判断できない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例：「部門別の平均売上を出して」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2395728" cy="2011680"/>
          </a:xfrm>
          <a:prstGeom prst="roundRect">
            <a:avLst>
              <a:gd name="adj" fmla="val 7273"/>
            </a:avLst>
          </a:prstGeom>
          <a:solidFill>
            <a:srgbClr val="E8F1FA"/>
          </a:solidFill>
          <a:ln w="15240">
            <a:solidFill>
              <a:srgbClr val="C9DC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9202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あなたの指示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99716"/>
            <a:ext cx="21214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「dfから部門別の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 sales を計算して」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581912" y="3063240"/>
            <a:ext cx="512064" cy="51206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09928" y="3191256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3127248" y="2697480"/>
            <a:ext cx="310896" cy="0"/>
          </a:xfrm>
          <a:prstGeom prst="line">
            <a:avLst/>
          </a:prstGeom>
          <a:noFill/>
          <a:ln w="2794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3566160" y="1600200"/>
            <a:ext cx="4297680" cy="2240280"/>
          </a:xfrm>
          <a:prstGeom prst="roundRect">
            <a:avLst>
              <a:gd name="adj" fmla="val 6531"/>
            </a:avLst>
          </a:prstGeom>
          <a:solidFill>
            <a:srgbClr val="17212B"/>
          </a:solidFill>
          <a:ln w="15240">
            <a:solidFill>
              <a:srgbClr val="17212B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13" name="Text 10"/>
          <p:cNvSpPr/>
          <p:nvPr/>
        </p:nvSpPr>
        <p:spPr>
          <a:xfrm>
            <a:off x="3822192" y="1810512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AIが生成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840480" y="2167128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1  df |&gt;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2    dplyr::group_by(dept) |&gt;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3    dplyr::summarise(avg = mean(sales))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771519" y="3225928"/>
            <a:ext cx="2094738" cy="429768"/>
          </a:xfrm>
          <a:prstGeom prst="roundRect">
            <a:avLst>
              <a:gd name="adj" fmla="val 25000"/>
            </a:avLst>
          </a:prstGeom>
          <a:solidFill>
            <a:srgbClr val="1F3B57"/>
          </a:solidFill>
          <a:ln w="15240">
            <a:solidFill>
              <a:srgbClr val="1F3B5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977640" y="3364992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FE0E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文法上はもっともらしい</a:t>
            </a:r>
            <a:endParaRPr lang="en-US" sz="1100" b="1" dirty="0"/>
          </a:p>
        </p:txBody>
      </p:sp>
      <p:sp>
        <p:nvSpPr>
          <p:cNvPr id="17" name="Shape 14"/>
          <p:cNvSpPr/>
          <p:nvPr/>
        </p:nvSpPr>
        <p:spPr>
          <a:xfrm>
            <a:off x="7973568" y="2697480"/>
            <a:ext cx="310896" cy="0"/>
          </a:xfrm>
          <a:prstGeom prst="line">
            <a:avLst/>
          </a:prstGeom>
          <a:noFill/>
          <a:ln w="27940">
            <a:solidFill>
              <a:srgbClr val="8AA2B5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12480" y="1691640"/>
            <a:ext cx="3127248" cy="2011680"/>
          </a:xfrm>
          <a:prstGeom prst="roundRect">
            <a:avLst>
              <a:gd name="adj" fmla="val 7273"/>
            </a:avLst>
          </a:prstGeom>
          <a:solidFill>
            <a:srgbClr val="FBE8E8"/>
          </a:solidFill>
          <a:ln w="15240">
            <a:solidFill>
              <a:srgbClr val="EDCAC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668512" y="192024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実行結果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8668512" y="2313432"/>
            <a:ext cx="26151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sales に NA が1つあると</a:t>
            </a:r>
            <a:endParaRPr lang="en-US" sz="1450" dirty="0"/>
          </a:p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平均値が NA になる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8833104" y="3081528"/>
            <a:ext cx="2322576" cy="384048"/>
          </a:xfrm>
          <a:prstGeom prst="roundRect">
            <a:avLst>
              <a:gd name="adj" fmla="val 23810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ja-JP" altLang="en-US" dirty="0"/>
          </a:p>
        </p:txBody>
      </p:sp>
      <p:sp>
        <p:nvSpPr>
          <p:cNvPr id="22" name="Text 19"/>
          <p:cNvSpPr/>
          <p:nvPr/>
        </p:nvSpPr>
        <p:spPr>
          <a:xfrm>
            <a:off x="8887968" y="3172968"/>
            <a:ext cx="2212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5A5A"/>
                </a:solidFill>
                <a:latin typeface="Liberation Mono" pitchFamily="34" charset="0"/>
                <a:ea typeface="Liberation Mono" pitchFamily="34" charset="-122"/>
                <a:cs typeface="Liberation Mono" pitchFamily="34" charset="-120"/>
              </a:rPr>
              <a:t>mean(sales, na.rm = TRUE)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04672" y="4187952"/>
            <a:ext cx="10588752" cy="1609344"/>
          </a:xfrm>
          <a:prstGeom prst="roundRect">
            <a:avLst>
              <a:gd name="adj" fmla="val 9091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15568" y="4434840"/>
            <a:ext cx="2926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B8D2E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でも本当に大事なのは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115568" y="489928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「そのNAを除外してよいのか？」</a:t>
            </a:r>
            <a:endParaRPr lang="en-US" sz="2800" dirty="0"/>
          </a:p>
        </p:txBody>
      </p:sp>
      <p:sp>
        <p:nvSpPr>
          <p:cNvPr id="26" name="Text 23"/>
          <p:cNvSpPr/>
          <p:nvPr/>
        </p:nvSpPr>
        <p:spPr>
          <a:xfrm>
            <a:off x="7818120" y="459943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欠損の理由・偏り・業務定義を確かめる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18120" y="5001768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文法の知識  ＋  データの意味を考える力</a:t>
            </a:r>
            <a:endParaRPr lang="en-US" sz="1350" dirty="0"/>
          </a:p>
        </p:txBody>
      </p:sp>
      <p:sp>
        <p:nvSpPr>
          <p:cNvPr id="28" name="Text 25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CLASSROOM RULES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この授業では、AIを禁止しない。むしろ「正しく使う」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AIを使うこと自体ではなく、理解せずに結果を受け取ることを避ける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658368" y="1627632"/>
            <a:ext cx="10881360" cy="1664208"/>
          </a:xfrm>
          <a:prstGeom prst="roundRect">
            <a:avLst>
              <a:gd name="adj" fmla="val 8791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24128" y="1993392"/>
            <a:ext cx="896112" cy="896112"/>
          </a:xfrm>
          <a:prstGeom prst="ellipse">
            <a:avLst/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8156" y="2217420"/>
            <a:ext cx="448056" cy="4480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212848" y="2036064"/>
            <a:ext cx="31546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AI使用 OK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249424" y="2584704"/>
            <a:ext cx="4389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質問・コード生成・エラー解決に使ってよい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653528" y="2157984"/>
            <a:ext cx="2560320" cy="621792"/>
          </a:xfrm>
          <a:prstGeom prst="roundRect">
            <a:avLst>
              <a:gd name="adj" fmla="val 17647"/>
            </a:avLst>
          </a:prstGeom>
          <a:solidFill>
            <a:srgbClr val="14877F"/>
          </a:solidFill>
          <a:ln w="15240">
            <a:solidFill>
              <a:srgbClr val="14877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00416" y="2258568"/>
            <a:ext cx="20665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使用は前提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評価は「使い方」</a:t>
            </a: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6089904" y="3310128"/>
            <a:ext cx="0" cy="30175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12848" y="3611880"/>
            <a:ext cx="7763256" cy="0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12848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6089904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9976104" y="3611880"/>
            <a:ext cx="0" cy="210312"/>
          </a:xfrm>
          <a:prstGeom prst="line">
            <a:avLst/>
          </a:prstGeom>
          <a:noFill/>
          <a:ln w="25400">
            <a:solidFill>
              <a:srgbClr val="8FBAB6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841248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1078992" y="4169664"/>
            <a:ext cx="585216" cy="585216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25296" y="4315968"/>
            <a:ext cx="292608" cy="29260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1773936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説明できる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1773936" y="44256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各処理を自分の言葉で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説明する</a:t>
            </a:r>
            <a:endParaRPr lang="en-US" sz="1200" b="1" dirty="0"/>
          </a:p>
        </p:txBody>
      </p:sp>
      <p:sp>
        <p:nvSpPr>
          <p:cNvPr id="23" name="Shape 19"/>
          <p:cNvSpPr/>
          <p:nvPr/>
        </p:nvSpPr>
        <p:spPr>
          <a:xfrm>
            <a:off x="4718304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956048" y="4169664"/>
            <a:ext cx="585216" cy="585216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02352" y="4315968"/>
            <a:ext cx="292608" cy="29260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50992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検算する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5650992" y="4425696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件数・平均・グラフを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別の方法でも確かめる</a:t>
            </a:r>
            <a:endParaRPr lang="en-US" sz="1200" b="1" dirty="0"/>
          </a:p>
        </p:txBody>
      </p:sp>
      <p:sp>
        <p:nvSpPr>
          <p:cNvPr id="28" name="Shape 23"/>
          <p:cNvSpPr/>
          <p:nvPr/>
        </p:nvSpPr>
        <p:spPr>
          <a:xfrm>
            <a:off x="8604504" y="3858768"/>
            <a:ext cx="2743200" cy="1517904"/>
          </a:xfrm>
          <a:prstGeom prst="roundRect">
            <a:avLst>
              <a:gd name="adj" fmla="val 9639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8842248" y="4169664"/>
            <a:ext cx="585216" cy="585216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88552" y="4315968"/>
            <a:ext cx="292608" cy="29260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537192" y="4059936"/>
            <a:ext cx="1527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再現可能に残す</a:t>
            </a:r>
            <a:endParaRPr lang="en-US" sz="1600" dirty="0"/>
          </a:p>
        </p:txBody>
      </p:sp>
      <p:sp>
        <p:nvSpPr>
          <p:cNvPr id="32" name="Text 26"/>
          <p:cNvSpPr/>
          <p:nvPr/>
        </p:nvSpPr>
        <p:spPr>
          <a:xfrm>
            <a:off x="9537192" y="4425696"/>
            <a:ext cx="16642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 → 加工 → 出力をコードに残す</a:t>
            </a:r>
            <a:endParaRPr lang="en-US" sz="1200" b="1" dirty="0"/>
          </a:p>
        </p:txBody>
      </p:sp>
      <p:sp>
        <p:nvSpPr>
          <p:cNvPr id="33" name="Shape 27"/>
          <p:cNvSpPr/>
          <p:nvPr/>
        </p:nvSpPr>
        <p:spPr>
          <a:xfrm>
            <a:off x="1828800" y="5669280"/>
            <a:ext cx="8531352" cy="502920"/>
          </a:xfrm>
          <a:prstGeom prst="roundRect">
            <a:avLst>
              <a:gd name="adj" fmla="val 20000"/>
            </a:avLst>
          </a:prstGeom>
          <a:solidFill>
            <a:srgbClr val="FBE8E8"/>
          </a:solidFill>
          <a:ln w="15240">
            <a:solidFill>
              <a:srgbClr val="F2C6C6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212848" y="5806440"/>
            <a:ext cx="7754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CC5A5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「AIがそう書いたから」は、説明にならない。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420624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8096" y="45237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TAKEAWAY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85800" y="987552"/>
            <a:ext cx="6263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目標は、「コードを書く人」ではない。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85800" y="1572768"/>
            <a:ext cx="7132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79D3C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コードを使って考え、AIを監督できる人になる。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762760" y="2528570"/>
            <a:ext cx="9059672" cy="45719"/>
          </a:xfrm>
          <a:prstGeom prst="rect">
            <a:avLst/>
          </a:prstGeom>
          <a:solidFill>
            <a:srgbClr val="4C8097"/>
          </a:solidFill>
          <a:ln w="12700">
            <a:solidFill>
              <a:srgbClr val="4C809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69568" y="236397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232408" y="2249678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20A99B"/>
          </a:solidFill>
          <a:ln w="15240">
            <a:solidFill>
              <a:srgbClr val="20A99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2408" y="242366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375408" y="2720594"/>
            <a:ext cx="786384" cy="786384"/>
          </a:xfrm>
          <a:prstGeom prst="ellipse">
            <a:avLst/>
          </a:prstGeom>
          <a:solidFill>
            <a:srgbClr val="20A99B"/>
          </a:solidFill>
          <a:ln w="12700">
            <a:solidFill>
              <a:srgbClr val="20A99B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72004" y="2917190"/>
            <a:ext cx="393192" cy="39319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53616" y="364413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読める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717040" y="410133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何をしているか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処理の意味を追える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4725416" y="236397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588256" y="2249678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2D8694"/>
          </a:solidFill>
          <a:ln w="15240">
            <a:solidFill>
              <a:srgbClr val="2D869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588256" y="242366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731256" y="2720594"/>
            <a:ext cx="786384" cy="786384"/>
          </a:xfrm>
          <a:prstGeom prst="ellipse">
            <a:avLst/>
          </a:prstGeom>
          <a:solidFill>
            <a:srgbClr val="2D8694"/>
          </a:solidFill>
          <a:ln w="12700">
            <a:solidFill>
              <a:srgbClr val="2D8694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927852" y="2917190"/>
            <a:ext cx="393192" cy="39319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109464" y="364413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疑える</a:t>
            </a:r>
            <a:endParaRPr lang="en-US" sz="2100" dirty="0"/>
          </a:p>
        </p:txBody>
      </p:sp>
      <p:sp>
        <p:nvSpPr>
          <p:cNvPr id="21" name="Text 16"/>
          <p:cNvSpPr/>
          <p:nvPr/>
        </p:nvSpPr>
        <p:spPr>
          <a:xfrm>
            <a:off x="5072888" y="410133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本当に正しいか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根拠と限界を問える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081264" y="2363978"/>
            <a:ext cx="2788920" cy="2560320"/>
          </a:xfrm>
          <a:prstGeom prst="roundRect">
            <a:avLst>
              <a:gd name="adj" fmla="val 5714"/>
            </a:avLst>
          </a:prstGeom>
          <a:solidFill>
            <a:srgbClr val="173851"/>
          </a:solidFill>
          <a:ln w="15240">
            <a:solidFill>
              <a:srgbClr val="2A536F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7944104" y="2249678"/>
            <a:ext cx="603504" cy="603504"/>
          </a:xfrm>
          <a:prstGeom prst="roundRect">
            <a:avLst>
              <a:gd name="adj" fmla="val 24242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944104" y="2423668"/>
            <a:ext cx="603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9087104" y="2720594"/>
            <a:ext cx="786384" cy="786384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283700" y="2917190"/>
            <a:ext cx="393192" cy="39319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465312" y="364413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直せる</a:t>
            </a:r>
            <a:endParaRPr lang="en-US" sz="2100" dirty="0"/>
          </a:p>
        </p:txBody>
      </p:sp>
      <p:sp>
        <p:nvSpPr>
          <p:cNvPr id="29" name="Text 22"/>
          <p:cNvSpPr/>
          <p:nvPr/>
        </p:nvSpPr>
        <p:spPr>
          <a:xfrm>
            <a:off x="8428736" y="4101338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目的に合わせて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C9DC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コードと分析を変えられる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1298448" y="5285232"/>
            <a:ext cx="9601200" cy="694944"/>
          </a:xfrm>
          <a:prstGeom prst="roundRect">
            <a:avLst>
              <a:gd name="adj" fmla="val 15789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1609344" y="5486400"/>
            <a:ext cx="89794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読む → 疑う → 直す。この連続が、AIを「使う」から「監督する」への一歩。</a:t>
            </a:r>
            <a:endParaRPr lang="en-US" sz="1600" dirty="0"/>
          </a:p>
        </p:txBody>
      </p:sp>
      <p:sp>
        <p:nvSpPr>
          <p:cNvPr id="32" name="Text 25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3" name="Text 26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AFC4D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WHY R?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なぜRなのか？ AIの出力を「分析」に変える4つの強み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Rは、データ取得から説明までを一つの再現可能な流れにできる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828032" y="1965960"/>
            <a:ext cx="2542032" cy="2542032"/>
          </a:xfrm>
          <a:prstGeom prst="ellipse">
            <a:avLst/>
          </a:prstGeom>
          <a:solidFill>
            <a:srgbClr val="3C668A"/>
          </a:solidFill>
          <a:ln w="2540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89220" y="2662599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</a:t>
            </a:r>
            <a:endParaRPr lang="en-US" sz="8000" dirty="0"/>
          </a:p>
        </p:txBody>
      </p:sp>
      <p:sp>
        <p:nvSpPr>
          <p:cNvPr id="9" name="Shape 7"/>
          <p:cNvSpPr/>
          <p:nvPr/>
        </p:nvSpPr>
        <p:spPr>
          <a:xfrm>
            <a:off x="658368" y="1664208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914400" y="2020824"/>
            <a:ext cx="658368" cy="65836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" y="2185416"/>
            <a:ext cx="329184" cy="32918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719072" y="19019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データ操作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788997" y="220370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readr / dplyr / tidyr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実データを整える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58368" y="3794760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ja-JP" altLang="en-US" dirty="0"/>
          </a:p>
        </p:txBody>
      </p:sp>
      <p:sp>
        <p:nvSpPr>
          <p:cNvPr id="15" name="Shape 12"/>
          <p:cNvSpPr/>
          <p:nvPr/>
        </p:nvSpPr>
        <p:spPr>
          <a:xfrm>
            <a:off x="914400" y="4151376"/>
            <a:ext cx="658368" cy="658368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78992" y="4315968"/>
            <a:ext cx="329184" cy="32918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719072" y="4032504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統計・検証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1742739" y="4398264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集計・回帰・時系列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仮説を確かめる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8522208" y="1664208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778240" y="2020824"/>
            <a:ext cx="658368" cy="6583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942832" y="2185416"/>
            <a:ext cx="329184" cy="32918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9582912" y="1901952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9582912" y="2244852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ggplot2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結果を伝える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8522208" y="3794760"/>
            <a:ext cx="2999232" cy="1417320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778240" y="4151376"/>
            <a:ext cx="658368" cy="658368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42832" y="4315968"/>
            <a:ext cx="329184" cy="3291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582912" y="4032504"/>
            <a:ext cx="15727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再現可能性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9582912" y="4379976"/>
            <a:ext cx="16642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 / script / API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手順を残す</a:t>
            </a:r>
            <a:endParaRPr lang="en-US" sz="1200" dirty="0"/>
          </a:p>
        </p:txBody>
      </p:sp>
      <p:sp>
        <p:nvSpPr>
          <p:cNvPr id="32" name="Shape 26"/>
          <p:cNvSpPr/>
          <p:nvPr/>
        </p:nvSpPr>
        <p:spPr>
          <a:xfrm>
            <a:off x="8449056" y="4462272"/>
            <a:ext cx="0" cy="0"/>
          </a:xfrm>
          <a:prstGeom prst="line">
            <a:avLst/>
          </a:prstGeom>
          <a:noFill/>
          <a:ln w="19050">
            <a:solidFill>
              <a:srgbClr val="A6B9C7"/>
            </a:solidFill>
            <a:prstDash val="solid"/>
            <a:tailEnd type="triangle"/>
          </a:ln>
        </p:spPr>
      </p:sp>
      <p:sp>
        <p:nvSpPr>
          <p:cNvPr id="33" name="Shape 27"/>
          <p:cNvSpPr/>
          <p:nvPr/>
        </p:nvSpPr>
        <p:spPr>
          <a:xfrm>
            <a:off x="1847088" y="5596128"/>
            <a:ext cx="8503920" cy="521208"/>
          </a:xfrm>
          <a:prstGeom prst="roundRect">
            <a:avLst>
              <a:gd name="adj" fmla="val 19298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2176272" y="5768848"/>
            <a:ext cx="78455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AIが書いたコードを、検証可能な分析プロセスへ変えるのがRの役割</a:t>
            </a:r>
            <a:endParaRPr lang="en-US" sz="1450" dirty="0"/>
          </a:p>
        </p:txBody>
      </p:sp>
      <p:sp>
        <p:nvSpPr>
          <p:cNvPr id="35" name="Text 29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36" name="Text 30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9</a:t>
            </a:r>
            <a:endParaRPr lang="en-US" sz="800" dirty="0"/>
          </a:p>
        </p:txBody>
      </p:sp>
      <p:sp>
        <p:nvSpPr>
          <p:cNvPr id="53" name="Shape 19">
            <a:extLst>
              <a:ext uri="{FF2B5EF4-FFF2-40B4-BE49-F238E27FC236}">
                <a16:creationId xmlns:a16="http://schemas.microsoft.com/office/drawing/2014/main" id="{128CCC35-AC96-1FE8-BCF0-6572E6DA77AB}"/>
              </a:ext>
            </a:extLst>
          </p:cNvPr>
          <p:cNvSpPr/>
          <p:nvPr/>
        </p:nvSpPr>
        <p:spPr>
          <a:xfrm>
            <a:off x="5150882" y="3477245"/>
            <a:ext cx="1890236" cy="397593"/>
          </a:xfrm>
          <a:prstGeom prst="roundRect">
            <a:avLst>
              <a:gd name="adj" fmla="val 10323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F115D0A1-6A11-8618-587D-6951337C30D5}"/>
              </a:ext>
            </a:extLst>
          </p:cNvPr>
          <p:cNvSpPr txBox="1"/>
          <p:nvPr/>
        </p:nvSpPr>
        <p:spPr>
          <a:xfrm>
            <a:off x="5150882" y="3497041"/>
            <a:ext cx="1890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ctr">
              <a:buNone/>
            </a:pPr>
            <a:r>
              <a:rPr lang="en-US" altLang="ja-JP" sz="1800" b="1" dirty="0">
                <a:solidFill>
                  <a:srgbClr val="102A43"/>
                </a:solidFill>
                <a:latin typeface="源ノ角ゴシック JP Bold" panose="020B0800000000000000" pitchFamily="34" charset="-128"/>
                <a:ea typeface="源ノ角ゴシック JP Bold" panose="020B0800000000000000" pitchFamily="34" charset="-128"/>
                <a:cs typeface="Yu Gothic" pitchFamily="34" charset="-120"/>
              </a:rPr>
              <a:t>分析の共通言語</a:t>
            </a:r>
            <a:endParaRPr lang="en-US" altLang="ja-JP" sz="1800" dirty="0">
              <a:solidFill>
                <a:srgbClr val="102A43"/>
              </a:solidFill>
              <a:latin typeface="源ノ角ゴシック JP Bold" panose="020B0800000000000000" pitchFamily="34" charset="-128"/>
              <a:ea typeface="源ノ角ゴシック JP Bold" panose="020B0800000000000000" pitchFamily="34" charset="-128"/>
            </a:endParaRPr>
          </a:p>
        </p:txBody>
      </p:sp>
      <p:sp>
        <p:nvSpPr>
          <p:cNvPr id="59" name="矢印: 右 58">
            <a:extLst>
              <a:ext uri="{FF2B5EF4-FFF2-40B4-BE49-F238E27FC236}">
                <a16:creationId xmlns:a16="http://schemas.microsoft.com/office/drawing/2014/main" id="{8EEB6CA4-15AD-05D5-515C-130DCC374F18}"/>
              </a:ext>
            </a:extLst>
          </p:cNvPr>
          <p:cNvSpPr/>
          <p:nvPr/>
        </p:nvSpPr>
        <p:spPr>
          <a:xfrm>
            <a:off x="3665744" y="2053027"/>
            <a:ext cx="1197864" cy="1013569"/>
          </a:xfrm>
          <a:custGeom>
            <a:avLst/>
            <a:gdLst>
              <a:gd name="connsiteX0" fmla="*/ 0 w 1100507"/>
              <a:gd name="connsiteY0" fmla="*/ 157264 h 819551"/>
              <a:gd name="connsiteX1" fmla="*/ 690732 w 1100507"/>
              <a:gd name="connsiteY1" fmla="*/ 157264 h 819551"/>
              <a:gd name="connsiteX2" fmla="*/ 690732 w 1100507"/>
              <a:gd name="connsiteY2" fmla="*/ 0 h 819551"/>
              <a:gd name="connsiteX3" fmla="*/ 1100507 w 1100507"/>
              <a:gd name="connsiteY3" fmla="*/ 409776 h 819551"/>
              <a:gd name="connsiteX4" fmla="*/ 690732 w 1100507"/>
              <a:gd name="connsiteY4" fmla="*/ 819551 h 819551"/>
              <a:gd name="connsiteX5" fmla="*/ 690732 w 1100507"/>
              <a:gd name="connsiteY5" fmla="*/ 662287 h 819551"/>
              <a:gd name="connsiteX6" fmla="*/ 0 w 1100507"/>
              <a:gd name="connsiteY6" fmla="*/ 662287 h 819551"/>
              <a:gd name="connsiteX7" fmla="*/ 0 w 1100507"/>
              <a:gd name="connsiteY7" fmla="*/ 157264 h 819551"/>
              <a:gd name="connsiteX0" fmla="*/ 0 w 1100507"/>
              <a:gd name="connsiteY0" fmla="*/ 157264 h 1143401"/>
              <a:gd name="connsiteX1" fmla="*/ 690732 w 1100507"/>
              <a:gd name="connsiteY1" fmla="*/ 157264 h 1143401"/>
              <a:gd name="connsiteX2" fmla="*/ 690732 w 1100507"/>
              <a:gd name="connsiteY2" fmla="*/ 0 h 1143401"/>
              <a:gd name="connsiteX3" fmla="*/ 1100507 w 1100507"/>
              <a:gd name="connsiteY3" fmla="*/ 409776 h 1143401"/>
              <a:gd name="connsiteX4" fmla="*/ 881232 w 1100507"/>
              <a:gd name="connsiteY4" fmla="*/ 1143401 h 1143401"/>
              <a:gd name="connsiteX5" fmla="*/ 690732 w 1100507"/>
              <a:gd name="connsiteY5" fmla="*/ 662287 h 1143401"/>
              <a:gd name="connsiteX6" fmla="*/ 0 w 1100507"/>
              <a:gd name="connsiteY6" fmla="*/ 662287 h 1143401"/>
              <a:gd name="connsiteX7" fmla="*/ 0 w 1100507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690732 w 1148132"/>
              <a:gd name="connsiteY5" fmla="*/ 662287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90757 w 1148132"/>
              <a:gd name="connsiteY5" fmla="*/ 1000424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971719 w 1148132"/>
              <a:gd name="connsiteY1" fmla="*/ 78115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885994 w 1148132"/>
              <a:gd name="connsiteY1" fmla="*/ 72400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0 h 986137"/>
              <a:gd name="connsiteX1" fmla="*/ 885994 w 1148132"/>
              <a:gd name="connsiteY1" fmla="*/ 566737 h 986137"/>
              <a:gd name="connsiteX2" fmla="*/ 885994 w 1148132"/>
              <a:gd name="connsiteY2" fmla="*/ 466623 h 986137"/>
              <a:gd name="connsiteX3" fmla="*/ 1148132 w 1148132"/>
              <a:gd name="connsiteY3" fmla="*/ 824012 h 986137"/>
              <a:gd name="connsiteX4" fmla="*/ 881232 w 1148132"/>
              <a:gd name="connsiteY4" fmla="*/ 986137 h 986137"/>
              <a:gd name="connsiteX5" fmla="*/ 866945 w 1148132"/>
              <a:gd name="connsiteY5" fmla="*/ 857447 h 986137"/>
              <a:gd name="connsiteX6" fmla="*/ 0 w 1148132"/>
              <a:gd name="connsiteY6" fmla="*/ 505023 h 986137"/>
              <a:gd name="connsiteX7" fmla="*/ 0 w 1148132"/>
              <a:gd name="connsiteY7" fmla="*/ 0 h 98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132" h="986137">
                <a:moveTo>
                  <a:pt x="0" y="0"/>
                </a:moveTo>
                <a:lnTo>
                  <a:pt x="885994" y="566737"/>
                </a:lnTo>
                <a:lnTo>
                  <a:pt x="885994" y="466623"/>
                </a:lnTo>
                <a:lnTo>
                  <a:pt x="1148132" y="824012"/>
                </a:lnTo>
                <a:lnTo>
                  <a:pt x="881232" y="986137"/>
                </a:lnTo>
                <a:lnTo>
                  <a:pt x="866945" y="857447"/>
                </a:lnTo>
                <a:lnTo>
                  <a:pt x="0" y="505023"/>
                </a:lnTo>
                <a:lnTo>
                  <a:pt x="0" y="0"/>
                </a:lnTo>
                <a:close/>
              </a:path>
            </a:pathLst>
          </a:cu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0" name="矢印: 右 58">
            <a:extLst>
              <a:ext uri="{FF2B5EF4-FFF2-40B4-BE49-F238E27FC236}">
                <a16:creationId xmlns:a16="http://schemas.microsoft.com/office/drawing/2014/main" id="{4F948710-71A8-F1A6-B460-B15D1BFC00A6}"/>
              </a:ext>
            </a:extLst>
          </p:cNvPr>
          <p:cNvSpPr/>
          <p:nvPr/>
        </p:nvSpPr>
        <p:spPr>
          <a:xfrm flipV="1">
            <a:off x="3662979" y="3635618"/>
            <a:ext cx="1197864" cy="1013569"/>
          </a:xfrm>
          <a:custGeom>
            <a:avLst/>
            <a:gdLst>
              <a:gd name="connsiteX0" fmla="*/ 0 w 1100507"/>
              <a:gd name="connsiteY0" fmla="*/ 157264 h 819551"/>
              <a:gd name="connsiteX1" fmla="*/ 690732 w 1100507"/>
              <a:gd name="connsiteY1" fmla="*/ 157264 h 819551"/>
              <a:gd name="connsiteX2" fmla="*/ 690732 w 1100507"/>
              <a:gd name="connsiteY2" fmla="*/ 0 h 819551"/>
              <a:gd name="connsiteX3" fmla="*/ 1100507 w 1100507"/>
              <a:gd name="connsiteY3" fmla="*/ 409776 h 819551"/>
              <a:gd name="connsiteX4" fmla="*/ 690732 w 1100507"/>
              <a:gd name="connsiteY4" fmla="*/ 819551 h 819551"/>
              <a:gd name="connsiteX5" fmla="*/ 690732 w 1100507"/>
              <a:gd name="connsiteY5" fmla="*/ 662287 h 819551"/>
              <a:gd name="connsiteX6" fmla="*/ 0 w 1100507"/>
              <a:gd name="connsiteY6" fmla="*/ 662287 h 819551"/>
              <a:gd name="connsiteX7" fmla="*/ 0 w 1100507"/>
              <a:gd name="connsiteY7" fmla="*/ 157264 h 819551"/>
              <a:gd name="connsiteX0" fmla="*/ 0 w 1100507"/>
              <a:gd name="connsiteY0" fmla="*/ 157264 h 1143401"/>
              <a:gd name="connsiteX1" fmla="*/ 690732 w 1100507"/>
              <a:gd name="connsiteY1" fmla="*/ 157264 h 1143401"/>
              <a:gd name="connsiteX2" fmla="*/ 690732 w 1100507"/>
              <a:gd name="connsiteY2" fmla="*/ 0 h 1143401"/>
              <a:gd name="connsiteX3" fmla="*/ 1100507 w 1100507"/>
              <a:gd name="connsiteY3" fmla="*/ 409776 h 1143401"/>
              <a:gd name="connsiteX4" fmla="*/ 881232 w 1100507"/>
              <a:gd name="connsiteY4" fmla="*/ 1143401 h 1143401"/>
              <a:gd name="connsiteX5" fmla="*/ 690732 w 1100507"/>
              <a:gd name="connsiteY5" fmla="*/ 662287 h 1143401"/>
              <a:gd name="connsiteX6" fmla="*/ 0 w 1100507"/>
              <a:gd name="connsiteY6" fmla="*/ 662287 h 1143401"/>
              <a:gd name="connsiteX7" fmla="*/ 0 w 1100507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690732 w 1148132"/>
              <a:gd name="connsiteY5" fmla="*/ 662287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90757 w 1148132"/>
              <a:gd name="connsiteY5" fmla="*/ 1000424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971719 w 1148132"/>
              <a:gd name="connsiteY1" fmla="*/ 78115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885994 w 1148132"/>
              <a:gd name="connsiteY1" fmla="*/ 72400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0 h 986137"/>
              <a:gd name="connsiteX1" fmla="*/ 885994 w 1148132"/>
              <a:gd name="connsiteY1" fmla="*/ 566737 h 986137"/>
              <a:gd name="connsiteX2" fmla="*/ 885994 w 1148132"/>
              <a:gd name="connsiteY2" fmla="*/ 466623 h 986137"/>
              <a:gd name="connsiteX3" fmla="*/ 1148132 w 1148132"/>
              <a:gd name="connsiteY3" fmla="*/ 824012 h 986137"/>
              <a:gd name="connsiteX4" fmla="*/ 881232 w 1148132"/>
              <a:gd name="connsiteY4" fmla="*/ 986137 h 986137"/>
              <a:gd name="connsiteX5" fmla="*/ 866945 w 1148132"/>
              <a:gd name="connsiteY5" fmla="*/ 857447 h 986137"/>
              <a:gd name="connsiteX6" fmla="*/ 0 w 1148132"/>
              <a:gd name="connsiteY6" fmla="*/ 505023 h 986137"/>
              <a:gd name="connsiteX7" fmla="*/ 0 w 1148132"/>
              <a:gd name="connsiteY7" fmla="*/ 0 h 98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132" h="986137">
                <a:moveTo>
                  <a:pt x="0" y="0"/>
                </a:moveTo>
                <a:lnTo>
                  <a:pt x="885994" y="566737"/>
                </a:lnTo>
                <a:lnTo>
                  <a:pt x="885994" y="466623"/>
                </a:lnTo>
                <a:lnTo>
                  <a:pt x="1148132" y="824012"/>
                </a:lnTo>
                <a:lnTo>
                  <a:pt x="881232" y="986137"/>
                </a:lnTo>
                <a:lnTo>
                  <a:pt x="866945" y="857447"/>
                </a:lnTo>
                <a:lnTo>
                  <a:pt x="0" y="505023"/>
                </a:lnTo>
                <a:lnTo>
                  <a:pt x="0" y="0"/>
                </a:lnTo>
                <a:close/>
              </a:path>
            </a:pathLst>
          </a:cu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矢印: 右 58">
            <a:extLst>
              <a:ext uri="{FF2B5EF4-FFF2-40B4-BE49-F238E27FC236}">
                <a16:creationId xmlns:a16="http://schemas.microsoft.com/office/drawing/2014/main" id="{F0053A42-4F16-F17F-4B77-B6030AFEF715}"/>
              </a:ext>
            </a:extLst>
          </p:cNvPr>
          <p:cNvSpPr/>
          <p:nvPr/>
        </p:nvSpPr>
        <p:spPr>
          <a:xfrm flipH="1">
            <a:off x="7324344" y="1950720"/>
            <a:ext cx="1197864" cy="1013569"/>
          </a:xfrm>
          <a:custGeom>
            <a:avLst/>
            <a:gdLst>
              <a:gd name="connsiteX0" fmla="*/ 0 w 1100507"/>
              <a:gd name="connsiteY0" fmla="*/ 157264 h 819551"/>
              <a:gd name="connsiteX1" fmla="*/ 690732 w 1100507"/>
              <a:gd name="connsiteY1" fmla="*/ 157264 h 819551"/>
              <a:gd name="connsiteX2" fmla="*/ 690732 w 1100507"/>
              <a:gd name="connsiteY2" fmla="*/ 0 h 819551"/>
              <a:gd name="connsiteX3" fmla="*/ 1100507 w 1100507"/>
              <a:gd name="connsiteY3" fmla="*/ 409776 h 819551"/>
              <a:gd name="connsiteX4" fmla="*/ 690732 w 1100507"/>
              <a:gd name="connsiteY4" fmla="*/ 819551 h 819551"/>
              <a:gd name="connsiteX5" fmla="*/ 690732 w 1100507"/>
              <a:gd name="connsiteY5" fmla="*/ 662287 h 819551"/>
              <a:gd name="connsiteX6" fmla="*/ 0 w 1100507"/>
              <a:gd name="connsiteY6" fmla="*/ 662287 h 819551"/>
              <a:gd name="connsiteX7" fmla="*/ 0 w 1100507"/>
              <a:gd name="connsiteY7" fmla="*/ 157264 h 819551"/>
              <a:gd name="connsiteX0" fmla="*/ 0 w 1100507"/>
              <a:gd name="connsiteY0" fmla="*/ 157264 h 1143401"/>
              <a:gd name="connsiteX1" fmla="*/ 690732 w 1100507"/>
              <a:gd name="connsiteY1" fmla="*/ 157264 h 1143401"/>
              <a:gd name="connsiteX2" fmla="*/ 690732 w 1100507"/>
              <a:gd name="connsiteY2" fmla="*/ 0 h 1143401"/>
              <a:gd name="connsiteX3" fmla="*/ 1100507 w 1100507"/>
              <a:gd name="connsiteY3" fmla="*/ 409776 h 1143401"/>
              <a:gd name="connsiteX4" fmla="*/ 881232 w 1100507"/>
              <a:gd name="connsiteY4" fmla="*/ 1143401 h 1143401"/>
              <a:gd name="connsiteX5" fmla="*/ 690732 w 1100507"/>
              <a:gd name="connsiteY5" fmla="*/ 662287 h 1143401"/>
              <a:gd name="connsiteX6" fmla="*/ 0 w 1100507"/>
              <a:gd name="connsiteY6" fmla="*/ 662287 h 1143401"/>
              <a:gd name="connsiteX7" fmla="*/ 0 w 1100507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690732 w 1148132"/>
              <a:gd name="connsiteY5" fmla="*/ 662287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90757 w 1148132"/>
              <a:gd name="connsiteY5" fmla="*/ 1000424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971719 w 1148132"/>
              <a:gd name="connsiteY1" fmla="*/ 78115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885994 w 1148132"/>
              <a:gd name="connsiteY1" fmla="*/ 72400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0 h 986137"/>
              <a:gd name="connsiteX1" fmla="*/ 885994 w 1148132"/>
              <a:gd name="connsiteY1" fmla="*/ 566737 h 986137"/>
              <a:gd name="connsiteX2" fmla="*/ 885994 w 1148132"/>
              <a:gd name="connsiteY2" fmla="*/ 466623 h 986137"/>
              <a:gd name="connsiteX3" fmla="*/ 1148132 w 1148132"/>
              <a:gd name="connsiteY3" fmla="*/ 824012 h 986137"/>
              <a:gd name="connsiteX4" fmla="*/ 881232 w 1148132"/>
              <a:gd name="connsiteY4" fmla="*/ 986137 h 986137"/>
              <a:gd name="connsiteX5" fmla="*/ 866945 w 1148132"/>
              <a:gd name="connsiteY5" fmla="*/ 857447 h 986137"/>
              <a:gd name="connsiteX6" fmla="*/ 0 w 1148132"/>
              <a:gd name="connsiteY6" fmla="*/ 505023 h 986137"/>
              <a:gd name="connsiteX7" fmla="*/ 0 w 1148132"/>
              <a:gd name="connsiteY7" fmla="*/ 0 h 98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132" h="986137">
                <a:moveTo>
                  <a:pt x="0" y="0"/>
                </a:moveTo>
                <a:lnTo>
                  <a:pt x="885994" y="566737"/>
                </a:lnTo>
                <a:lnTo>
                  <a:pt x="885994" y="466623"/>
                </a:lnTo>
                <a:lnTo>
                  <a:pt x="1148132" y="824012"/>
                </a:lnTo>
                <a:lnTo>
                  <a:pt x="881232" y="986137"/>
                </a:lnTo>
                <a:lnTo>
                  <a:pt x="866945" y="857447"/>
                </a:lnTo>
                <a:lnTo>
                  <a:pt x="0" y="505023"/>
                </a:lnTo>
                <a:lnTo>
                  <a:pt x="0" y="0"/>
                </a:lnTo>
                <a:close/>
              </a:path>
            </a:pathLst>
          </a:cu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63" name="矢印: 右 58">
            <a:extLst>
              <a:ext uri="{FF2B5EF4-FFF2-40B4-BE49-F238E27FC236}">
                <a16:creationId xmlns:a16="http://schemas.microsoft.com/office/drawing/2014/main" id="{E2098B58-B4A4-17D7-36D8-89A0D4724586}"/>
              </a:ext>
            </a:extLst>
          </p:cNvPr>
          <p:cNvSpPr/>
          <p:nvPr/>
        </p:nvSpPr>
        <p:spPr>
          <a:xfrm flipH="1" flipV="1">
            <a:off x="7334488" y="3584709"/>
            <a:ext cx="1197864" cy="1013569"/>
          </a:xfrm>
          <a:custGeom>
            <a:avLst/>
            <a:gdLst>
              <a:gd name="connsiteX0" fmla="*/ 0 w 1100507"/>
              <a:gd name="connsiteY0" fmla="*/ 157264 h 819551"/>
              <a:gd name="connsiteX1" fmla="*/ 690732 w 1100507"/>
              <a:gd name="connsiteY1" fmla="*/ 157264 h 819551"/>
              <a:gd name="connsiteX2" fmla="*/ 690732 w 1100507"/>
              <a:gd name="connsiteY2" fmla="*/ 0 h 819551"/>
              <a:gd name="connsiteX3" fmla="*/ 1100507 w 1100507"/>
              <a:gd name="connsiteY3" fmla="*/ 409776 h 819551"/>
              <a:gd name="connsiteX4" fmla="*/ 690732 w 1100507"/>
              <a:gd name="connsiteY4" fmla="*/ 819551 h 819551"/>
              <a:gd name="connsiteX5" fmla="*/ 690732 w 1100507"/>
              <a:gd name="connsiteY5" fmla="*/ 662287 h 819551"/>
              <a:gd name="connsiteX6" fmla="*/ 0 w 1100507"/>
              <a:gd name="connsiteY6" fmla="*/ 662287 h 819551"/>
              <a:gd name="connsiteX7" fmla="*/ 0 w 1100507"/>
              <a:gd name="connsiteY7" fmla="*/ 157264 h 819551"/>
              <a:gd name="connsiteX0" fmla="*/ 0 w 1100507"/>
              <a:gd name="connsiteY0" fmla="*/ 157264 h 1143401"/>
              <a:gd name="connsiteX1" fmla="*/ 690732 w 1100507"/>
              <a:gd name="connsiteY1" fmla="*/ 157264 h 1143401"/>
              <a:gd name="connsiteX2" fmla="*/ 690732 w 1100507"/>
              <a:gd name="connsiteY2" fmla="*/ 0 h 1143401"/>
              <a:gd name="connsiteX3" fmla="*/ 1100507 w 1100507"/>
              <a:gd name="connsiteY3" fmla="*/ 409776 h 1143401"/>
              <a:gd name="connsiteX4" fmla="*/ 881232 w 1100507"/>
              <a:gd name="connsiteY4" fmla="*/ 1143401 h 1143401"/>
              <a:gd name="connsiteX5" fmla="*/ 690732 w 1100507"/>
              <a:gd name="connsiteY5" fmla="*/ 662287 h 1143401"/>
              <a:gd name="connsiteX6" fmla="*/ 0 w 1100507"/>
              <a:gd name="connsiteY6" fmla="*/ 662287 h 1143401"/>
              <a:gd name="connsiteX7" fmla="*/ 0 w 1100507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690732 w 1148132"/>
              <a:gd name="connsiteY5" fmla="*/ 662287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90757 w 1148132"/>
              <a:gd name="connsiteY5" fmla="*/ 1000424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690732 w 1148132"/>
              <a:gd name="connsiteY1" fmla="*/ 157264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971719 w 1148132"/>
              <a:gd name="connsiteY1" fmla="*/ 78115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157264 h 1143401"/>
              <a:gd name="connsiteX1" fmla="*/ 885994 w 1148132"/>
              <a:gd name="connsiteY1" fmla="*/ 724001 h 1143401"/>
              <a:gd name="connsiteX2" fmla="*/ 690732 w 1148132"/>
              <a:gd name="connsiteY2" fmla="*/ 0 h 1143401"/>
              <a:gd name="connsiteX3" fmla="*/ 1148132 w 1148132"/>
              <a:gd name="connsiteY3" fmla="*/ 981276 h 1143401"/>
              <a:gd name="connsiteX4" fmla="*/ 881232 w 1148132"/>
              <a:gd name="connsiteY4" fmla="*/ 1143401 h 1143401"/>
              <a:gd name="connsiteX5" fmla="*/ 866945 w 1148132"/>
              <a:gd name="connsiteY5" fmla="*/ 1014711 h 1143401"/>
              <a:gd name="connsiteX6" fmla="*/ 0 w 1148132"/>
              <a:gd name="connsiteY6" fmla="*/ 662287 h 1143401"/>
              <a:gd name="connsiteX7" fmla="*/ 0 w 1148132"/>
              <a:gd name="connsiteY7" fmla="*/ 157264 h 1143401"/>
              <a:gd name="connsiteX0" fmla="*/ 0 w 1148132"/>
              <a:gd name="connsiteY0" fmla="*/ 0 h 986137"/>
              <a:gd name="connsiteX1" fmla="*/ 885994 w 1148132"/>
              <a:gd name="connsiteY1" fmla="*/ 566737 h 986137"/>
              <a:gd name="connsiteX2" fmla="*/ 885994 w 1148132"/>
              <a:gd name="connsiteY2" fmla="*/ 466623 h 986137"/>
              <a:gd name="connsiteX3" fmla="*/ 1148132 w 1148132"/>
              <a:gd name="connsiteY3" fmla="*/ 824012 h 986137"/>
              <a:gd name="connsiteX4" fmla="*/ 881232 w 1148132"/>
              <a:gd name="connsiteY4" fmla="*/ 986137 h 986137"/>
              <a:gd name="connsiteX5" fmla="*/ 866945 w 1148132"/>
              <a:gd name="connsiteY5" fmla="*/ 857447 h 986137"/>
              <a:gd name="connsiteX6" fmla="*/ 0 w 1148132"/>
              <a:gd name="connsiteY6" fmla="*/ 505023 h 986137"/>
              <a:gd name="connsiteX7" fmla="*/ 0 w 1148132"/>
              <a:gd name="connsiteY7" fmla="*/ 0 h 9861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148132" h="986137">
                <a:moveTo>
                  <a:pt x="0" y="0"/>
                </a:moveTo>
                <a:lnTo>
                  <a:pt x="885994" y="566737"/>
                </a:lnTo>
                <a:lnTo>
                  <a:pt x="885994" y="466623"/>
                </a:lnTo>
                <a:lnTo>
                  <a:pt x="1148132" y="824012"/>
                </a:lnTo>
                <a:lnTo>
                  <a:pt x="881232" y="986137"/>
                </a:lnTo>
                <a:lnTo>
                  <a:pt x="866945" y="857447"/>
                </a:lnTo>
                <a:lnTo>
                  <a:pt x="0" y="505023"/>
                </a:lnTo>
                <a:lnTo>
                  <a:pt x="0" y="0"/>
                </a:lnTo>
                <a:close/>
              </a:path>
            </a:pathLst>
          </a:cu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二等辺三角形 67">
            <a:extLst>
              <a:ext uri="{FF2B5EF4-FFF2-40B4-BE49-F238E27FC236}">
                <a16:creationId xmlns:a16="http://schemas.microsoft.com/office/drawing/2014/main" id="{E16E76BD-FD5B-199B-F919-B55B1BFCFDB1}"/>
              </a:ext>
            </a:extLst>
          </p:cNvPr>
          <p:cNvSpPr/>
          <p:nvPr/>
        </p:nvSpPr>
        <p:spPr>
          <a:xfrm rot="5400000">
            <a:off x="9467088" y="3169435"/>
            <a:ext cx="1044910" cy="372826"/>
          </a:xfrm>
          <a:prstGeom prst="triangle">
            <a:avLst/>
          </a:pr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7" name="二等辺三角形 66">
            <a:extLst>
              <a:ext uri="{FF2B5EF4-FFF2-40B4-BE49-F238E27FC236}">
                <a16:creationId xmlns:a16="http://schemas.microsoft.com/office/drawing/2014/main" id="{9A43AE1B-8C06-D084-C157-675046CA10EB}"/>
              </a:ext>
            </a:extLst>
          </p:cNvPr>
          <p:cNvSpPr/>
          <p:nvPr/>
        </p:nvSpPr>
        <p:spPr>
          <a:xfrm rot="5400000">
            <a:off x="7542207" y="3123715"/>
            <a:ext cx="1044910" cy="372826"/>
          </a:xfrm>
          <a:prstGeom prst="triangle">
            <a:avLst/>
          </a:pr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二等辺三角形 65">
            <a:extLst>
              <a:ext uri="{FF2B5EF4-FFF2-40B4-BE49-F238E27FC236}">
                <a16:creationId xmlns:a16="http://schemas.microsoft.com/office/drawing/2014/main" id="{233E1E02-F8DA-D9E3-D325-F04F9836FCF5}"/>
              </a:ext>
            </a:extLst>
          </p:cNvPr>
          <p:cNvSpPr/>
          <p:nvPr/>
        </p:nvSpPr>
        <p:spPr>
          <a:xfrm rot="5400000">
            <a:off x="5604025" y="3123715"/>
            <a:ext cx="1044910" cy="372826"/>
          </a:xfrm>
          <a:prstGeom prst="triangle">
            <a:avLst/>
          </a:pr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二等辺三角形 64">
            <a:extLst>
              <a:ext uri="{FF2B5EF4-FFF2-40B4-BE49-F238E27FC236}">
                <a16:creationId xmlns:a16="http://schemas.microsoft.com/office/drawing/2014/main" id="{3AC3A210-AF08-B2CF-55B3-B2D54FDFBEF7}"/>
              </a:ext>
            </a:extLst>
          </p:cNvPr>
          <p:cNvSpPr/>
          <p:nvPr/>
        </p:nvSpPr>
        <p:spPr>
          <a:xfrm rot="5400000">
            <a:off x="3707684" y="3123715"/>
            <a:ext cx="1044910" cy="372826"/>
          </a:xfrm>
          <a:prstGeom prst="triangle">
            <a:avLst/>
          </a:pr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二等辺三角形 63">
            <a:extLst>
              <a:ext uri="{FF2B5EF4-FFF2-40B4-BE49-F238E27FC236}">
                <a16:creationId xmlns:a16="http://schemas.microsoft.com/office/drawing/2014/main" id="{E9F9B59E-1966-97E1-9ABE-C3C084524F57}"/>
              </a:ext>
            </a:extLst>
          </p:cNvPr>
          <p:cNvSpPr/>
          <p:nvPr/>
        </p:nvSpPr>
        <p:spPr>
          <a:xfrm rot="5400000">
            <a:off x="1769156" y="3123715"/>
            <a:ext cx="1044910" cy="372826"/>
          </a:xfrm>
          <a:prstGeom prst="triangle">
            <a:avLst/>
          </a:prstGeom>
          <a:solidFill>
            <a:srgbClr val="D8DE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 PRACTICAL WORKFLOW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AIとRを組み合わせる標準ワークフロー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AIに任せる工程と、人が責任を持つ工程を分ける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3035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8755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9786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96696" y="2578608"/>
            <a:ext cx="658368" cy="658368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93292" y="2743200"/>
            <a:ext cx="246888" cy="3291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8580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83C59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Ask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64008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目的を定義</a:t>
            </a:r>
            <a:endParaRPr lang="en-US" sz="1230" dirty="0"/>
          </a:p>
        </p:txBody>
      </p:sp>
      <p:sp>
        <p:nvSpPr>
          <p:cNvPr id="13" name="Text 10"/>
          <p:cNvSpPr/>
          <p:nvPr/>
        </p:nvSpPr>
        <p:spPr>
          <a:xfrm>
            <a:off x="65836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期間・単位・対象を明示</a:t>
            </a:r>
            <a:endParaRPr lang="en-US" sz="920" dirty="0"/>
          </a:p>
        </p:txBody>
      </p:sp>
      <p:sp>
        <p:nvSpPr>
          <p:cNvPr id="15" name="Shape 11"/>
          <p:cNvSpPr/>
          <p:nvPr/>
        </p:nvSpPr>
        <p:spPr>
          <a:xfrm>
            <a:off x="245059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290779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311810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916936" y="2578608"/>
            <a:ext cx="658368" cy="658368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081528" y="2743200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260604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Generate</a:t>
            </a:r>
            <a:endParaRPr lang="en-US" sz="1320" dirty="0"/>
          </a:p>
        </p:txBody>
      </p:sp>
      <p:sp>
        <p:nvSpPr>
          <p:cNvPr id="21" name="Text 16"/>
          <p:cNvSpPr/>
          <p:nvPr/>
        </p:nvSpPr>
        <p:spPr>
          <a:xfrm>
            <a:off x="256032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AIで生成</a:t>
            </a:r>
            <a:endParaRPr lang="en-US" sz="1230" dirty="0"/>
          </a:p>
        </p:txBody>
      </p:sp>
      <p:sp>
        <p:nvSpPr>
          <p:cNvPr id="22" name="Text 17"/>
          <p:cNvSpPr/>
          <p:nvPr/>
        </p:nvSpPr>
        <p:spPr>
          <a:xfrm>
            <a:off x="257860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雛形・候補を得る</a:t>
            </a:r>
            <a:endParaRPr lang="en-US" sz="920" dirty="0"/>
          </a:p>
        </p:txBody>
      </p:sp>
      <p:sp>
        <p:nvSpPr>
          <p:cNvPr id="24" name="Shape 18"/>
          <p:cNvSpPr/>
          <p:nvPr/>
        </p:nvSpPr>
        <p:spPr>
          <a:xfrm>
            <a:off x="437083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82803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503834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837176" y="2578608"/>
            <a:ext cx="658368" cy="658368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001768" y="27432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52628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3C668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</a:t>
            </a:r>
            <a:endParaRPr lang="en-US" sz="1320" dirty="0"/>
          </a:p>
        </p:txBody>
      </p:sp>
      <p:sp>
        <p:nvSpPr>
          <p:cNvPr id="30" name="Text 23"/>
          <p:cNvSpPr/>
          <p:nvPr/>
        </p:nvSpPr>
        <p:spPr>
          <a:xfrm>
            <a:off x="448056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一行ずつ読む</a:t>
            </a:r>
            <a:endParaRPr lang="en-US" sz="1230" dirty="0"/>
          </a:p>
        </p:txBody>
      </p:sp>
      <p:sp>
        <p:nvSpPr>
          <p:cNvPr id="31" name="Text 24"/>
          <p:cNvSpPr/>
          <p:nvPr/>
        </p:nvSpPr>
        <p:spPr>
          <a:xfrm>
            <a:off x="449884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処理の意味を説明</a:t>
            </a:r>
            <a:endParaRPr lang="en-US" sz="920" dirty="0"/>
          </a:p>
        </p:txBody>
      </p:sp>
      <p:sp>
        <p:nvSpPr>
          <p:cNvPr id="33" name="Shape 25"/>
          <p:cNvSpPr/>
          <p:nvPr/>
        </p:nvSpPr>
        <p:spPr>
          <a:xfrm>
            <a:off x="629107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674827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35" name="Text 27"/>
          <p:cNvSpPr/>
          <p:nvPr/>
        </p:nvSpPr>
        <p:spPr>
          <a:xfrm>
            <a:off x="695858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4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6757416" y="2578608"/>
            <a:ext cx="658368" cy="658368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37" name="Image 6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22008" y="2743200"/>
            <a:ext cx="329184" cy="329184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44652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E9A23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Test</a:t>
            </a:r>
            <a:endParaRPr lang="en-US" sz="1320" dirty="0"/>
          </a:p>
        </p:txBody>
      </p:sp>
      <p:sp>
        <p:nvSpPr>
          <p:cNvPr id="39" name="Text 30"/>
          <p:cNvSpPr/>
          <p:nvPr/>
        </p:nvSpPr>
        <p:spPr>
          <a:xfrm>
            <a:off x="640080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小さく試す</a:t>
            </a:r>
            <a:endParaRPr lang="en-US" sz="1230" dirty="0"/>
          </a:p>
        </p:txBody>
      </p:sp>
      <p:sp>
        <p:nvSpPr>
          <p:cNvPr id="40" name="Text 31"/>
          <p:cNvSpPr/>
          <p:nvPr/>
        </p:nvSpPr>
        <p:spPr>
          <a:xfrm>
            <a:off x="641908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欠損・外れ値・端点</a:t>
            </a:r>
            <a:endParaRPr lang="en-US" sz="920" dirty="0"/>
          </a:p>
        </p:txBody>
      </p:sp>
      <p:sp>
        <p:nvSpPr>
          <p:cNvPr id="42" name="Shape 32"/>
          <p:cNvSpPr/>
          <p:nvPr/>
        </p:nvSpPr>
        <p:spPr>
          <a:xfrm>
            <a:off x="821131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866851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7D718F"/>
          </a:solidFill>
          <a:ln w="15240">
            <a:solidFill>
              <a:srgbClr val="7D718F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887882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5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8677656" y="2578608"/>
            <a:ext cx="658368" cy="658368"/>
          </a:xfrm>
          <a:prstGeom prst="ellipse">
            <a:avLst/>
          </a:prstGeom>
          <a:solidFill>
            <a:srgbClr val="7D718F"/>
          </a:solidFill>
          <a:ln w="12700">
            <a:solidFill>
              <a:srgbClr val="7D718F">
                <a:alpha val="0"/>
              </a:srgbClr>
            </a:solidFill>
            <a:prstDash val="solid"/>
          </a:ln>
        </p:spPr>
      </p:sp>
      <p:pic>
        <p:nvPicPr>
          <p:cNvPr id="46" name="Image 8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842248" y="2743200"/>
            <a:ext cx="329184" cy="329184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36676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7D718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Compare</a:t>
            </a:r>
            <a:endParaRPr lang="en-US" sz="1320" dirty="0"/>
          </a:p>
        </p:txBody>
      </p:sp>
      <p:sp>
        <p:nvSpPr>
          <p:cNvPr id="48" name="Text 37"/>
          <p:cNvSpPr/>
          <p:nvPr/>
        </p:nvSpPr>
        <p:spPr>
          <a:xfrm>
            <a:off x="832104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別方法で検算</a:t>
            </a:r>
            <a:endParaRPr lang="en-US" sz="1230" dirty="0"/>
          </a:p>
        </p:txBody>
      </p:sp>
      <p:sp>
        <p:nvSpPr>
          <p:cNvPr id="49" name="Text 38"/>
          <p:cNvSpPr/>
          <p:nvPr/>
        </p:nvSpPr>
        <p:spPr>
          <a:xfrm>
            <a:off x="833932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手計算・別集計と比較</a:t>
            </a:r>
            <a:endParaRPr lang="en-US" sz="920" dirty="0"/>
          </a:p>
        </p:txBody>
      </p:sp>
      <p:sp>
        <p:nvSpPr>
          <p:cNvPr id="51" name="Shape 39"/>
          <p:cNvSpPr/>
          <p:nvPr/>
        </p:nvSpPr>
        <p:spPr>
          <a:xfrm>
            <a:off x="10131552" y="1901952"/>
            <a:ext cx="1572768" cy="2907792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10588752" y="2066544"/>
            <a:ext cx="658368" cy="329184"/>
          </a:xfrm>
          <a:prstGeom prst="roundRect">
            <a:avLst>
              <a:gd name="adj" fmla="val 27778"/>
            </a:avLst>
          </a:prstGeom>
          <a:solidFill>
            <a:srgbClr val="2AA876"/>
          </a:solidFill>
          <a:ln w="15240">
            <a:solidFill>
              <a:srgbClr val="2AA876"/>
            </a:solidFill>
            <a:prstDash val="solid"/>
          </a:ln>
        </p:spPr>
      </p:sp>
      <p:sp>
        <p:nvSpPr>
          <p:cNvPr id="53" name="Text 41"/>
          <p:cNvSpPr/>
          <p:nvPr/>
        </p:nvSpPr>
        <p:spPr>
          <a:xfrm>
            <a:off x="10799064" y="2112264"/>
            <a:ext cx="237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Shape 42"/>
          <p:cNvSpPr/>
          <p:nvPr/>
        </p:nvSpPr>
        <p:spPr>
          <a:xfrm>
            <a:off x="10597896" y="2578608"/>
            <a:ext cx="658368" cy="658368"/>
          </a:xfrm>
          <a:prstGeom prst="ellipse">
            <a:avLst/>
          </a:prstGeom>
          <a:solidFill>
            <a:srgbClr val="2AA876"/>
          </a:solidFill>
          <a:ln w="12700">
            <a:solidFill>
              <a:srgbClr val="2AA876">
                <a:alpha val="0"/>
              </a:srgbClr>
            </a:solidFill>
            <a:prstDash val="solid"/>
          </a:ln>
        </p:spPr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762488" y="2743200"/>
            <a:ext cx="329184" cy="329184"/>
          </a:xfrm>
          <a:prstGeom prst="rect">
            <a:avLst/>
          </a:prstGeom>
        </p:spPr>
      </p:pic>
      <p:sp>
        <p:nvSpPr>
          <p:cNvPr id="56" name="Text 43"/>
          <p:cNvSpPr/>
          <p:nvPr/>
        </p:nvSpPr>
        <p:spPr>
          <a:xfrm>
            <a:off x="10287000" y="3401568"/>
            <a:ext cx="1261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20" b="1" dirty="0">
                <a:solidFill>
                  <a:srgbClr val="2AA876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Record</a:t>
            </a:r>
            <a:endParaRPr lang="en-US" sz="1320" dirty="0"/>
          </a:p>
        </p:txBody>
      </p:sp>
      <p:sp>
        <p:nvSpPr>
          <p:cNvPr id="57" name="Text 44"/>
          <p:cNvSpPr/>
          <p:nvPr/>
        </p:nvSpPr>
        <p:spPr>
          <a:xfrm>
            <a:off x="10241280" y="3730752"/>
            <a:ext cx="135331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3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再現可能に残す</a:t>
            </a:r>
            <a:endParaRPr lang="en-US" sz="1230" dirty="0"/>
          </a:p>
        </p:txBody>
      </p:sp>
      <p:sp>
        <p:nvSpPr>
          <p:cNvPr id="58" name="Text 45"/>
          <p:cNvSpPr/>
          <p:nvPr/>
        </p:nvSpPr>
        <p:spPr>
          <a:xfrm>
            <a:off x="10259568" y="4087368"/>
            <a:ext cx="13167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Quarto・ログ・出所</a:t>
            </a:r>
            <a:endParaRPr lang="en-US" sz="920" dirty="0"/>
          </a:p>
        </p:txBody>
      </p:sp>
      <p:sp>
        <p:nvSpPr>
          <p:cNvPr id="59" name="Shape 46"/>
          <p:cNvSpPr/>
          <p:nvPr/>
        </p:nvSpPr>
        <p:spPr>
          <a:xfrm>
            <a:off x="896112" y="5285232"/>
            <a:ext cx="10387584" cy="685800"/>
          </a:xfrm>
          <a:prstGeom prst="roundRect">
            <a:avLst>
              <a:gd name="adj" fmla="val 16000"/>
            </a:avLst>
          </a:prstGeom>
          <a:solidFill>
            <a:srgbClr val="102A43"/>
          </a:solidFill>
          <a:ln w="15240">
            <a:solidFill>
              <a:srgbClr val="102A43"/>
            </a:solidFill>
            <a:prstDash val="solid"/>
          </a:ln>
        </p:spPr>
      </p:sp>
      <p:sp>
        <p:nvSpPr>
          <p:cNvPr id="60" name="Text 47"/>
          <p:cNvSpPr/>
          <p:nvPr/>
        </p:nvSpPr>
        <p:spPr>
          <a:xfrm>
            <a:off x="1243584" y="5495544"/>
            <a:ext cx="9710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AIが得意：Generate　｜　人が必ず担う：Ask・Read・Test・Compare・Record</a:t>
            </a:r>
            <a:endParaRPr lang="en-US" sz="1600" dirty="0"/>
          </a:p>
        </p:txBody>
      </p:sp>
      <p:sp>
        <p:nvSpPr>
          <p:cNvPr id="61" name="Text 48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62" name="Text 49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10896"/>
            <a:ext cx="1508760" cy="27432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15240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04088" y="32918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b="1" kern="0" spc="70" dirty="0">
                <a:solidFill>
                  <a:srgbClr val="1FA69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TODAY'S COURSE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1018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この授業で実践すること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2529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古い練習データを眺めるだけでなく、APIから取得して分析につなげる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76072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76072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3C668A"/>
          </a:solidFill>
          <a:ln w="15240">
            <a:solidFill>
              <a:srgbClr val="3C668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88136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取得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188720" y="2670048"/>
            <a:ext cx="713232" cy="713232"/>
          </a:xfrm>
          <a:prstGeom prst="ellipse">
            <a:avLst/>
          </a:prstGeom>
          <a:solidFill>
            <a:srgbClr val="3C668A"/>
          </a:solidFill>
          <a:ln w="12700">
            <a:solidFill>
              <a:srgbClr val="3C668A">
                <a:alpha val="0"/>
              </a:srgbClr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67028" y="2848356"/>
            <a:ext cx="356616" cy="35661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0664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e-Stat API</a:t>
            </a:r>
            <a:endParaRPr lang="en-US" sz="1280" dirty="0"/>
          </a:p>
        </p:txBody>
      </p:sp>
      <p:sp>
        <p:nvSpPr>
          <p:cNvPr id="12" name="Text 9"/>
          <p:cNvSpPr/>
          <p:nvPr/>
        </p:nvSpPr>
        <p:spPr>
          <a:xfrm>
            <a:off x="740664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表ID・条件・取得日時を記録</a:t>
            </a:r>
            <a:endParaRPr lang="en-US" sz="93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569464" y="3246120"/>
            <a:ext cx="210312" cy="210312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2852928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852928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1FA69A"/>
          </a:solidFill>
          <a:ln w="15240">
            <a:solidFill>
              <a:srgbClr val="1FA69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64992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整形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3465576" y="2670048"/>
            <a:ext cx="713232" cy="713232"/>
          </a:xfrm>
          <a:prstGeom prst="ellipse">
            <a:avLst/>
          </a:prstGeom>
          <a:solidFill>
            <a:srgbClr val="1FA69A"/>
          </a:solidFill>
          <a:ln w="12700">
            <a:solidFill>
              <a:srgbClr val="1FA69A">
                <a:alpha val="0"/>
              </a:srgbClr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43884" y="2848356"/>
            <a:ext cx="356616" cy="3566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017520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readr / dplyr</a:t>
            </a:r>
            <a:endParaRPr lang="en-US" sz="1280" dirty="0"/>
          </a:p>
        </p:txBody>
      </p:sp>
      <p:sp>
        <p:nvSpPr>
          <p:cNvPr id="20" name="Text 15"/>
          <p:cNvSpPr/>
          <p:nvPr/>
        </p:nvSpPr>
        <p:spPr>
          <a:xfrm>
            <a:off x="3017520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型・欠損・列名を確認</a:t>
            </a:r>
            <a:endParaRPr lang="en-US" sz="93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46320" y="3246120"/>
            <a:ext cx="210312" cy="210312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129784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5129784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183C59"/>
          </a:solidFill>
          <a:ln w="15240">
            <a:solidFill>
              <a:srgbClr val="183C59"/>
            </a:solidFill>
            <a:prstDash val="solid"/>
          </a:ln>
        </p:spPr>
      </p:sp>
      <p:sp>
        <p:nvSpPr>
          <p:cNvPr id="24" name="Text 18"/>
          <p:cNvSpPr/>
          <p:nvPr/>
        </p:nvSpPr>
        <p:spPr>
          <a:xfrm>
            <a:off x="5641848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結合</a:t>
            </a:r>
            <a:endParaRPr lang="en-US" sz="1500" dirty="0"/>
          </a:p>
        </p:txBody>
      </p:sp>
      <p:sp>
        <p:nvSpPr>
          <p:cNvPr id="25" name="Shape 19"/>
          <p:cNvSpPr/>
          <p:nvPr/>
        </p:nvSpPr>
        <p:spPr>
          <a:xfrm>
            <a:off x="5742432" y="2670048"/>
            <a:ext cx="713232" cy="713232"/>
          </a:xfrm>
          <a:prstGeom prst="ellipse">
            <a:avLst/>
          </a:prstGeom>
          <a:solidFill>
            <a:srgbClr val="183C59"/>
          </a:solidFill>
          <a:ln w="12700">
            <a:solidFill>
              <a:srgbClr val="183C59">
                <a:alpha val="0"/>
              </a:srgbClr>
            </a:solidFill>
            <a:prstDash val="solid"/>
          </a:ln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20740" y="2848356"/>
            <a:ext cx="356616" cy="35661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4376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join / reshape</a:t>
            </a:r>
            <a:endParaRPr lang="en-US" sz="1280" dirty="0"/>
          </a:p>
        </p:txBody>
      </p:sp>
      <p:sp>
        <p:nvSpPr>
          <p:cNvPr id="28" name="Text 21"/>
          <p:cNvSpPr/>
          <p:nvPr/>
        </p:nvSpPr>
        <p:spPr>
          <a:xfrm>
            <a:off x="5294376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キーと行数を検証</a:t>
            </a:r>
            <a:endParaRPr lang="en-US" sz="930" dirty="0"/>
          </a:p>
        </p:txBody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23176" y="3246120"/>
            <a:ext cx="210312" cy="210312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406640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7406640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E9A23B"/>
          </a:solidFill>
          <a:ln w="15240">
            <a:solidFill>
              <a:srgbClr val="E9A23B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918704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可視化</a:t>
            </a:r>
            <a:endParaRPr lang="en-US" sz="1500" dirty="0"/>
          </a:p>
        </p:txBody>
      </p:sp>
      <p:sp>
        <p:nvSpPr>
          <p:cNvPr id="33" name="Shape 25"/>
          <p:cNvSpPr/>
          <p:nvPr/>
        </p:nvSpPr>
        <p:spPr>
          <a:xfrm>
            <a:off x="8019288" y="2670048"/>
            <a:ext cx="713232" cy="713232"/>
          </a:xfrm>
          <a:prstGeom prst="ellipse">
            <a:avLst/>
          </a:prstGeom>
          <a:solidFill>
            <a:srgbClr val="E9A23B"/>
          </a:solidFill>
          <a:ln w="12700">
            <a:solidFill>
              <a:srgbClr val="E9A23B">
                <a:alpha val="0"/>
              </a:srgbClr>
            </a:solidFill>
            <a:prstDash val="solid"/>
          </a:ln>
        </p:spPr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197596" y="2848356"/>
            <a:ext cx="356616" cy="35661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571232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ggplot2</a:t>
            </a:r>
            <a:endParaRPr lang="en-US" sz="1280" dirty="0"/>
          </a:p>
        </p:txBody>
      </p:sp>
      <p:sp>
        <p:nvSpPr>
          <p:cNvPr id="36" name="Text 27"/>
          <p:cNvSpPr/>
          <p:nvPr/>
        </p:nvSpPr>
        <p:spPr>
          <a:xfrm>
            <a:off x="7571232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単位・出所・比較軸を明示</a:t>
            </a:r>
            <a:endParaRPr lang="en-US" sz="930" dirty="0"/>
          </a:p>
        </p:txBody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00032" y="3246120"/>
            <a:ext cx="210312" cy="210312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683496" y="1874520"/>
            <a:ext cx="1938528" cy="2880360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5240">
            <a:solidFill>
              <a:srgbClr val="D8DEE7"/>
            </a:solidFill>
            <a:prstDash val="solid"/>
          </a:ln>
          <a:effectLst>
            <a:outerShdw blurRad="25400" dist="12700" dir="27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9683496" y="1874520"/>
            <a:ext cx="1938528" cy="512064"/>
          </a:xfrm>
          <a:prstGeom prst="roundRect">
            <a:avLst>
              <a:gd name="adj" fmla="val 25000"/>
            </a:avLst>
          </a:prstGeom>
          <a:solidFill>
            <a:srgbClr val="7D718F"/>
          </a:solidFill>
          <a:ln w="15240">
            <a:solidFill>
              <a:srgbClr val="7D718F"/>
            </a:solidFill>
            <a:prstDash val="solid"/>
          </a:ln>
        </p:spPr>
      </p:sp>
      <p:sp>
        <p:nvSpPr>
          <p:cNvPr id="40" name="Text 30"/>
          <p:cNvSpPr/>
          <p:nvPr/>
        </p:nvSpPr>
        <p:spPr>
          <a:xfrm>
            <a:off x="10195560" y="1965960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説明</a:t>
            </a:r>
            <a:endParaRPr lang="en-US" sz="1500" dirty="0"/>
          </a:p>
        </p:txBody>
      </p:sp>
      <p:sp>
        <p:nvSpPr>
          <p:cNvPr id="41" name="Shape 31"/>
          <p:cNvSpPr/>
          <p:nvPr/>
        </p:nvSpPr>
        <p:spPr>
          <a:xfrm>
            <a:off x="10296144" y="2670048"/>
            <a:ext cx="713232" cy="713232"/>
          </a:xfrm>
          <a:prstGeom prst="ellipse">
            <a:avLst/>
          </a:prstGeom>
          <a:solidFill>
            <a:srgbClr val="7D718F"/>
          </a:solidFill>
          <a:ln w="12700">
            <a:solidFill>
              <a:srgbClr val="7D718F">
                <a:alpha val="0"/>
              </a:srgbClr>
            </a:solidFill>
            <a:prstDash val="solid"/>
          </a:ln>
        </p:spPr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74452" y="2848356"/>
            <a:ext cx="356616" cy="356616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9848088" y="3593592"/>
            <a:ext cx="160934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8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Quarto</a:t>
            </a:r>
            <a:endParaRPr lang="en-US" sz="1280" dirty="0"/>
          </a:p>
        </p:txBody>
      </p:sp>
      <p:sp>
        <p:nvSpPr>
          <p:cNvPr id="44" name="Text 33"/>
          <p:cNvSpPr/>
          <p:nvPr/>
        </p:nvSpPr>
        <p:spPr>
          <a:xfrm>
            <a:off x="9848088" y="3950208"/>
            <a:ext cx="16093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30" dirty="0">
                <a:solidFill>
                  <a:srgbClr val="52606D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コードと文章を一緒に残す</a:t>
            </a:r>
            <a:endParaRPr lang="en-US" sz="930" dirty="0"/>
          </a:p>
        </p:txBody>
      </p:sp>
      <p:sp>
        <p:nvSpPr>
          <p:cNvPr id="45" name="Shape 34"/>
          <p:cNvSpPr/>
          <p:nvPr/>
        </p:nvSpPr>
        <p:spPr>
          <a:xfrm>
            <a:off x="980440" y="5119497"/>
            <a:ext cx="10241280" cy="715518"/>
          </a:xfrm>
          <a:prstGeom prst="roundRect">
            <a:avLst>
              <a:gd name="adj" fmla="val 15217"/>
            </a:avLst>
          </a:prstGeom>
          <a:solidFill>
            <a:srgbClr val="DFF4F1"/>
          </a:solidFill>
          <a:ln w="15240">
            <a:solidFill>
              <a:srgbClr val="B9E4DF"/>
            </a:solidFill>
            <a:prstDash val="solid"/>
          </a:ln>
        </p:spPr>
      </p:sp>
      <p:sp>
        <p:nvSpPr>
          <p:cNvPr id="46" name="Text 35"/>
          <p:cNvSpPr/>
          <p:nvPr/>
        </p:nvSpPr>
        <p:spPr>
          <a:xfrm>
            <a:off x="1355344" y="5343733"/>
            <a:ext cx="9491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02A43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AIに任せるのは入力補助。判断と説明は自分で行う。</a:t>
            </a:r>
            <a:endParaRPr lang="en-US" sz="1800" dirty="0"/>
          </a:p>
        </p:txBody>
      </p:sp>
      <p:sp>
        <p:nvSpPr>
          <p:cNvPr id="47" name="Text 36"/>
          <p:cNvSpPr/>
          <p:nvPr/>
        </p:nvSpPr>
        <p:spPr>
          <a:xfrm>
            <a:off x="2706624" y="6133338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B7A7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では、実データをRで触ってみましょう。</a:t>
            </a:r>
            <a:endParaRPr lang="en-US" sz="1900" dirty="0"/>
          </a:p>
        </p:txBody>
      </p:sp>
      <p:sp>
        <p:nvSpPr>
          <p:cNvPr id="48" name="Text 37"/>
          <p:cNvSpPr/>
          <p:nvPr/>
        </p:nvSpPr>
        <p:spPr>
          <a:xfrm>
            <a:off x="594360" y="6565392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R入門｜AI時代にプログラミングを学ぶ意義</a:t>
            </a:r>
            <a:endParaRPr lang="en-US" sz="750" dirty="0"/>
          </a:p>
        </p:txBody>
      </p:sp>
      <p:sp>
        <p:nvSpPr>
          <p:cNvPr id="49" name="Text 38"/>
          <p:cNvSpPr/>
          <p:nvPr/>
        </p:nvSpPr>
        <p:spPr>
          <a:xfrm>
            <a:off x="11201400" y="6528816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7B8794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1139</Words>
  <Application>Microsoft Office PowerPoint</Application>
  <PresentationFormat>ワイド画面</PresentationFormat>
  <Paragraphs>259</Paragraphs>
  <Slides>11</Slides>
  <Notes>11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11</vt:i4>
      </vt:variant>
    </vt:vector>
  </HeadingPairs>
  <TitlesOfParts>
    <vt:vector size="17" baseType="lpstr">
      <vt:lpstr>Liberation Mono</vt:lpstr>
      <vt:lpstr>源ノ角ゴシック JP Bold</vt:lpstr>
      <vt:lpstr>Yu Gothic</vt:lpstr>
      <vt:lpstr>Arial</vt:lpstr>
      <vt:lpstr>Calibri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AIがコードを書く時代に、なぜRを学ぶのか？</dc:title>
  <dc:subject>AI時代にプログラミングを学ぶ意義</dc:subject>
  <dc:creator>OpenAI</dc:creator>
  <cp:lastModifiedBy>森川 捺菜</cp:lastModifiedBy>
  <cp:revision>8</cp:revision>
  <dcterms:created xsi:type="dcterms:W3CDTF">2026-08-26T05:30:31Z</dcterms:created>
  <dcterms:modified xsi:type="dcterms:W3CDTF">2026-08-26T07:26:32Z</dcterms:modified>
</cp:coreProperties>
</file>